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0" r:id="rId3"/>
    <p:sldId id="261" r:id="rId4"/>
    <p:sldId id="262" r:id="rId5"/>
    <p:sldId id="263" r:id="rId6"/>
    <p:sldId id="271" r:id="rId7"/>
    <p:sldId id="264" r:id="rId8"/>
    <p:sldId id="273" r:id="rId9"/>
    <p:sldId id="265" r:id="rId10"/>
    <p:sldId id="266" r:id="rId11"/>
    <p:sldId id="267" r:id="rId12"/>
    <p:sldId id="269" r:id="rId13"/>
    <p:sldId id="270" r:id="rId14"/>
    <p:sldId id="275" r:id="rId15"/>
    <p:sldId id="268" r:id="rId16"/>
    <p:sldId id="272" r:id="rId17"/>
    <p:sldId id="274" r:id="rId18"/>
    <p:sldId id="276" r:id="rId19"/>
    <p:sldId id="277" r:id="rId20"/>
    <p:sldId id="278" r:id="rId21"/>
    <p:sldId id="279" r:id="rId22"/>
    <p:sldId id="257" r:id="rId23"/>
    <p:sldId id="258" r:id="rId24"/>
    <p:sldId id="259" r:id="rId25"/>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FA04B9-CCCF-4B53-92FF-91BCB834C600}" v="8" dt="2026-02-24T21:48:08.9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0" autoAdjust="0"/>
    <p:restoredTop sz="94660"/>
  </p:normalViewPr>
  <p:slideViewPr>
    <p:cSldViewPr snapToGrid="0">
      <p:cViewPr>
        <p:scale>
          <a:sx n="91" d="100"/>
          <a:sy n="91" d="100"/>
        </p:scale>
        <p:origin x="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8F215E-EC43-470D-AED7-CA0F97271AB8}" type="datetimeFigureOut">
              <a:rPr lang="nl-NL" smtClean="0"/>
              <a:t>25-2-2026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8FBFAE-0965-42E4-8E99-2C3B451E6BBB}" type="slidenum">
              <a:rPr lang="nl-NL" smtClean="0"/>
              <a:t>‹nr.›</a:t>
            </a:fld>
            <a:endParaRPr lang="nl-NL"/>
          </a:p>
        </p:txBody>
      </p:sp>
    </p:spTree>
    <p:extLst>
      <p:ext uri="{BB962C8B-B14F-4D97-AF65-F5344CB8AC3E}">
        <p14:creationId xmlns:p14="http://schemas.microsoft.com/office/powerpoint/2010/main" val="1190028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B78FBFAE-0965-42E4-8E99-2C3B451E6BBB}" type="slidenum">
              <a:rPr lang="nl-NL" smtClean="0"/>
              <a:t>1</a:t>
            </a:fld>
            <a:endParaRPr lang="nl-NL"/>
          </a:p>
        </p:txBody>
      </p:sp>
    </p:spTree>
    <p:extLst>
      <p:ext uri="{BB962C8B-B14F-4D97-AF65-F5344CB8AC3E}">
        <p14:creationId xmlns:p14="http://schemas.microsoft.com/office/powerpoint/2010/main" val="2826367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0D8E2A-35EC-BE59-BDE1-102C995E2BCA}"/>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FB962C12-755C-426F-73C3-41F67AF50C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C8BC5CDB-5388-0661-D005-C5FA5E6EC231}"/>
              </a:ext>
            </a:extLst>
          </p:cNvPr>
          <p:cNvSpPr>
            <a:spLocks noGrp="1"/>
          </p:cNvSpPr>
          <p:nvPr>
            <p:ph type="dt" sz="half" idx="10"/>
          </p:nvPr>
        </p:nvSpPr>
        <p:spPr/>
        <p:txBody>
          <a:bodyPr/>
          <a:lstStyle/>
          <a:p>
            <a:fld id="{6C4CCC25-5404-4923-9FAB-28E26CEBE66F}" type="datetimeFigureOut">
              <a:rPr lang="nl-NL" smtClean="0"/>
              <a:t>25-2-2026</a:t>
            </a:fld>
            <a:endParaRPr lang="nl-NL"/>
          </a:p>
        </p:txBody>
      </p:sp>
      <p:sp>
        <p:nvSpPr>
          <p:cNvPr id="5" name="Tijdelijke aanduiding voor voettekst 4">
            <a:extLst>
              <a:ext uri="{FF2B5EF4-FFF2-40B4-BE49-F238E27FC236}">
                <a16:creationId xmlns:a16="http://schemas.microsoft.com/office/drawing/2014/main" id="{8173274A-94CB-2B25-72AE-251D1B4CA645}"/>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341CFD7A-6512-6FA4-D75B-A8D617FC53B2}"/>
              </a:ext>
            </a:extLst>
          </p:cNvPr>
          <p:cNvSpPr>
            <a:spLocks noGrp="1"/>
          </p:cNvSpPr>
          <p:nvPr>
            <p:ph type="sldNum" sz="quarter" idx="12"/>
          </p:nvPr>
        </p:nvSpPr>
        <p:spPr/>
        <p:txBody>
          <a:bodyPr/>
          <a:lstStyle/>
          <a:p>
            <a:fld id="{306A3643-F24E-443B-9C17-876E39B874C2}" type="slidenum">
              <a:rPr lang="nl-NL" smtClean="0"/>
              <a:t>‹nr.›</a:t>
            </a:fld>
            <a:endParaRPr lang="nl-NL"/>
          </a:p>
        </p:txBody>
      </p:sp>
    </p:spTree>
    <p:extLst>
      <p:ext uri="{BB962C8B-B14F-4D97-AF65-F5344CB8AC3E}">
        <p14:creationId xmlns:p14="http://schemas.microsoft.com/office/powerpoint/2010/main" val="3948662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516125-20CB-157E-76A8-B9D046E3D6C5}"/>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127EC93C-08CD-D99F-E55B-8C26E9079721}"/>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87897C79-F42F-C884-F76E-42D8B25F79C0}"/>
              </a:ext>
            </a:extLst>
          </p:cNvPr>
          <p:cNvSpPr>
            <a:spLocks noGrp="1"/>
          </p:cNvSpPr>
          <p:nvPr>
            <p:ph type="dt" sz="half" idx="10"/>
          </p:nvPr>
        </p:nvSpPr>
        <p:spPr/>
        <p:txBody>
          <a:bodyPr/>
          <a:lstStyle/>
          <a:p>
            <a:fld id="{6C4CCC25-5404-4923-9FAB-28E26CEBE66F}" type="datetimeFigureOut">
              <a:rPr lang="nl-NL" smtClean="0"/>
              <a:t>25-2-2026</a:t>
            </a:fld>
            <a:endParaRPr lang="nl-NL"/>
          </a:p>
        </p:txBody>
      </p:sp>
      <p:sp>
        <p:nvSpPr>
          <p:cNvPr id="5" name="Tijdelijke aanduiding voor voettekst 4">
            <a:extLst>
              <a:ext uri="{FF2B5EF4-FFF2-40B4-BE49-F238E27FC236}">
                <a16:creationId xmlns:a16="http://schemas.microsoft.com/office/drawing/2014/main" id="{1EF2FFA0-8287-CF5C-131F-01572A4024F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D054CAF-01FE-2CFE-E1F3-EA269E49CDC5}"/>
              </a:ext>
            </a:extLst>
          </p:cNvPr>
          <p:cNvSpPr>
            <a:spLocks noGrp="1"/>
          </p:cNvSpPr>
          <p:nvPr>
            <p:ph type="sldNum" sz="quarter" idx="12"/>
          </p:nvPr>
        </p:nvSpPr>
        <p:spPr/>
        <p:txBody>
          <a:bodyPr/>
          <a:lstStyle/>
          <a:p>
            <a:fld id="{306A3643-F24E-443B-9C17-876E39B874C2}" type="slidenum">
              <a:rPr lang="nl-NL" smtClean="0"/>
              <a:t>‹nr.›</a:t>
            </a:fld>
            <a:endParaRPr lang="nl-NL"/>
          </a:p>
        </p:txBody>
      </p:sp>
    </p:spTree>
    <p:extLst>
      <p:ext uri="{BB962C8B-B14F-4D97-AF65-F5344CB8AC3E}">
        <p14:creationId xmlns:p14="http://schemas.microsoft.com/office/powerpoint/2010/main" val="2625651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BD5E01-8D43-4A4A-7034-C4D977164FB8}"/>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0E4B7988-EB01-98B7-C512-AB38398BA1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6DA4A166-19CA-8228-89CA-F6E31B0359D7}"/>
              </a:ext>
            </a:extLst>
          </p:cNvPr>
          <p:cNvSpPr>
            <a:spLocks noGrp="1"/>
          </p:cNvSpPr>
          <p:nvPr>
            <p:ph type="dt" sz="half" idx="10"/>
          </p:nvPr>
        </p:nvSpPr>
        <p:spPr/>
        <p:txBody>
          <a:bodyPr/>
          <a:lstStyle/>
          <a:p>
            <a:fld id="{6C4CCC25-5404-4923-9FAB-28E26CEBE66F}" type="datetimeFigureOut">
              <a:rPr lang="nl-NL" smtClean="0"/>
              <a:t>25-2-2026</a:t>
            </a:fld>
            <a:endParaRPr lang="nl-NL"/>
          </a:p>
        </p:txBody>
      </p:sp>
      <p:sp>
        <p:nvSpPr>
          <p:cNvPr id="5" name="Tijdelijke aanduiding voor voettekst 4">
            <a:extLst>
              <a:ext uri="{FF2B5EF4-FFF2-40B4-BE49-F238E27FC236}">
                <a16:creationId xmlns:a16="http://schemas.microsoft.com/office/drawing/2014/main" id="{C6226671-6902-89EF-B0AA-090F9D34262D}"/>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22D354C8-0277-A1EE-84C5-ECF7DB5AF8B0}"/>
              </a:ext>
            </a:extLst>
          </p:cNvPr>
          <p:cNvSpPr>
            <a:spLocks noGrp="1"/>
          </p:cNvSpPr>
          <p:nvPr>
            <p:ph type="sldNum" sz="quarter" idx="12"/>
          </p:nvPr>
        </p:nvSpPr>
        <p:spPr/>
        <p:txBody>
          <a:bodyPr/>
          <a:lstStyle/>
          <a:p>
            <a:fld id="{306A3643-F24E-443B-9C17-876E39B874C2}" type="slidenum">
              <a:rPr lang="nl-NL" smtClean="0"/>
              <a:t>‹nr.›</a:t>
            </a:fld>
            <a:endParaRPr lang="nl-NL"/>
          </a:p>
        </p:txBody>
      </p:sp>
    </p:spTree>
    <p:extLst>
      <p:ext uri="{BB962C8B-B14F-4D97-AF65-F5344CB8AC3E}">
        <p14:creationId xmlns:p14="http://schemas.microsoft.com/office/powerpoint/2010/main" val="1208338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EF274C-4D81-8673-5B40-01491C8EA00A}"/>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F9BFB576-1D5A-A44D-CE10-DAD4334C4FB5}"/>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8F755892-54AF-7898-517A-E9996F880DF7}"/>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9FF82A07-970C-4F21-2393-520B3586A6BD}"/>
              </a:ext>
            </a:extLst>
          </p:cNvPr>
          <p:cNvSpPr>
            <a:spLocks noGrp="1"/>
          </p:cNvSpPr>
          <p:nvPr>
            <p:ph type="dt" sz="half" idx="10"/>
          </p:nvPr>
        </p:nvSpPr>
        <p:spPr/>
        <p:txBody>
          <a:bodyPr/>
          <a:lstStyle/>
          <a:p>
            <a:fld id="{6C4CCC25-5404-4923-9FAB-28E26CEBE66F}" type="datetimeFigureOut">
              <a:rPr lang="nl-NL" smtClean="0"/>
              <a:t>25-2-2026</a:t>
            </a:fld>
            <a:endParaRPr lang="nl-NL"/>
          </a:p>
        </p:txBody>
      </p:sp>
      <p:sp>
        <p:nvSpPr>
          <p:cNvPr id="6" name="Tijdelijke aanduiding voor voettekst 5">
            <a:extLst>
              <a:ext uri="{FF2B5EF4-FFF2-40B4-BE49-F238E27FC236}">
                <a16:creationId xmlns:a16="http://schemas.microsoft.com/office/drawing/2014/main" id="{59C577E0-5D7E-C748-7E7D-3F13E7D82A86}"/>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17E04F30-8BCC-06E6-4C29-EE399590B273}"/>
              </a:ext>
            </a:extLst>
          </p:cNvPr>
          <p:cNvSpPr>
            <a:spLocks noGrp="1"/>
          </p:cNvSpPr>
          <p:nvPr>
            <p:ph type="sldNum" sz="quarter" idx="12"/>
          </p:nvPr>
        </p:nvSpPr>
        <p:spPr/>
        <p:txBody>
          <a:bodyPr/>
          <a:lstStyle/>
          <a:p>
            <a:fld id="{306A3643-F24E-443B-9C17-876E39B874C2}" type="slidenum">
              <a:rPr lang="nl-NL" smtClean="0"/>
              <a:t>‹nr.›</a:t>
            </a:fld>
            <a:endParaRPr lang="nl-NL"/>
          </a:p>
        </p:txBody>
      </p:sp>
    </p:spTree>
    <p:extLst>
      <p:ext uri="{BB962C8B-B14F-4D97-AF65-F5344CB8AC3E}">
        <p14:creationId xmlns:p14="http://schemas.microsoft.com/office/powerpoint/2010/main" val="1566247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C64246-6CB7-6298-4041-F94A5C387F84}"/>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94908A6F-F6DE-94E2-906A-97531F61C0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154A0423-A5C1-A663-57D2-96A08D03210B}"/>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7E80690A-A6DB-48EB-A638-DA8B1C6C1F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2655A1EF-FC48-5E8B-BD5E-C64BD26F55DC}"/>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BB95DAB8-3EDE-3F82-7FFD-69467E50F8DC}"/>
              </a:ext>
            </a:extLst>
          </p:cNvPr>
          <p:cNvSpPr>
            <a:spLocks noGrp="1"/>
          </p:cNvSpPr>
          <p:nvPr>
            <p:ph type="dt" sz="half" idx="10"/>
          </p:nvPr>
        </p:nvSpPr>
        <p:spPr/>
        <p:txBody>
          <a:bodyPr/>
          <a:lstStyle/>
          <a:p>
            <a:fld id="{6C4CCC25-5404-4923-9FAB-28E26CEBE66F}" type="datetimeFigureOut">
              <a:rPr lang="nl-NL" smtClean="0"/>
              <a:t>25-2-2026</a:t>
            </a:fld>
            <a:endParaRPr lang="nl-NL"/>
          </a:p>
        </p:txBody>
      </p:sp>
      <p:sp>
        <p:nvSpPr>
          <p:cNvPr id="8" name="Tijdelijke aanduiding voor voettekst 7">
            <a:extLst>
              <a:ext uri="{FF2B5EF4-FFF2-40B4-BE49-F238E27FC236}">
                <a16:creationId xmlns:a16="http://schemas.microsoft.com/office/drawing/2014/main" id="{07D6B531-16A4-9A87-4B6C-42701D4D3C67}"/>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8FC80763-DF2E-F179-3311-29B0155E1E3E}"/>
              </a:ext>
            </a:extLst>
          </p:cNvPr>
          <p:cNvSpPr>
            <a:spLocks noGrp="1"/>
          </p:cNvSpPr>
          <p:nvPr>
            <p:ph type="sldNum" sz="quarter" idx="12"/>
          </p:nvPr>
        </p:nvSpPr>
        <p:spPr/>
        <p:txBody>
          <a:bodyPr/>
          <a:lstStyle/>
          <a:p>
            <a:fld id="{306A3643-F24E-443B-9C17-876E39B874C2}" type="slidenum">
              <a:rPr lang="nl-NL" smtClean="0"/>
              <a:t>‹nr.›</a:t>
            </a:fld>
            <a:endParaRPr lang="nl-NL"/>
          </a:p>
        </p:txBody>
      </p:sp>
    </p:spTree>
    <p:extLst>
      <p:ext uri="{BB962C8B-B14F-4D97-AF65-F5344CB8AC3E}">
        <p14:creationId xmlns:p14="http://schemas.microsoft.com/office/powerpoint/2010/main" val="3633856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8B8E7A-4583-1864-A642-9D65181784AD}"/>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30A7E3BB-C296-BAD5-CFAC-3E4031226429}"/>
              </a:ext>
            </a:extLst>
          </p:cNvPr>
          <p:cNvSpPr>
            <a:spLocks noGrp="1"/>
          </p:cNvSpPr>
          <p:nvPr>
            <p:ph type="dt" sz="half" idx="10"/>
          </p:nvPr>
        </p:nvSpPr>
        <p:spPr/>
        <p:txBody>
          <a:bodyPr/>
          <a:lstStyle/>
          <a:p>
            <a:fld id="{6C4CCC25-5404-4923-9FAB-28E26CEBE66F}" type="datetimeFigureOut">
              <a:rPr lang="nl-NL" smtClean="0"/>
              <a:t>25-2-2026</a:t>
            </a:fld>
            <a:endParaRPr lang="nl-NL"/>
          </a:p>
        </p:txBody>
      </p:sp>
      <p:sp>
        <p:nvSpPr>
          <p:cNvPr id="4" name="Tijdelijke aanduiding voor voettekst 3">
            <a:extLst>
              <a:ext uri="{FF2B5EF4-FFF2-40B4-BE49-F238E27FC236}">
                <a16:creationId xmlns:a16="http://schemas.microsoft.com/office/drawing/2014/main" id="{CFDD861B-5BF1-9BDF-14E0-0A958B77CF95}"/>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1C0A5835-8B55-303F-FF3A-5B1B17E31AB0}"/>
              </a:ext>
            </a:extLst>
          </p:cNvPr>
          <p:cNvSpPr>
            <a:spLocks noGrp="1"/>
          </p:cNvSpPr>
          <p:nvPr>
            <p:ph type="sldNum" sz="quarter" idx="12"/>
          </p:nvPr>
        </p:nvSpPr>
        <p:spPr/>
        <p:txBody>
          <a:bodyPr/>
          <a:lstStyle/>
          <a:p>
            <a:fld id="{306A3643-F24E-443B-9C17-876E39B874C2}" type="slidenum">
              <a:rPr lang="nl-NL" smtClean="0"/>
              <a:t>‹nr.›</a:t>
            </a:fld>
            <a:endParaRPr lang="nl-NL"/>
          </a:p>
        </p:txBody>
      </p:sp>
    </p:spTree>
    <p:extLst>
      <p:ext uri="{BB962C8B-B14F-4D97-AF65-F5344CB8AC3E}">
        <p14:creationId xmlns:p14="http://schemas.microsoft.com/office/powerpoint/2010/main" val="3697636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67335826-2732-AEC0-B53C-F89288E2F8E8}"/>
              </a:ext>
            </a:extLst>
          </p:cNvPr>
          <p:cNvSpPr>
            <a:spLocks noGrp="1"/>
          </p:cNvSpPr>
          <p:nvPr>
            <p:ph type="dt" sz="half" idx="10"/>
          </p:nvPr>
        </p:nvSpPr>
        <p:spPr/>
        <p:txBody>
          <a:bodyPr/>
          <a:lstStyle/>
          <a:p>
            <a:fld id="{6C4CCC25-5404-4923-9FAB-28E26CEBE66F}" type="datetimeFigureOut">
              <a:rPr lang="nl-NL" smtClean="0"/>
              <a:t>25-2-2026</a:t>
            </a:fld>
            <a:endParaRPr lang="nl-NL"/>
          </a:p>
        </p:txBody>
      </p:sp>
      <p:sp>
        <p:nvSpPr>
          <p:cNvPr id="3" name="Tijdelijke aanduiding voor voettekst 2">
            <a:extLst>
              <a:ext uri="{FF2B5EF4-FFF2-40B4-BE49-F238E27FC236}">
                <a16:creationId xmlns:a16="http://schemas.microsoft.com/office/drawing/2014/main" id="{671A6561-932E-D2F6-B382-EAF4F9683550}"/>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99777BD5-3AB1-24F3-B3BB-8D857E27B0CA}"/>
              </a:ext>
            </a:extLst>
          </p:cNvPr>
          <p:cNvSpPr>
            <a:spLocks noGrp="1"/>
          </p:cNvSpPr>
          <p:nvPr>
            <p:ph type="sldNum" sz="quarter" idx="12"/>
          </p:nvPr>
        </p:nvSpPr>
        <p:spPr/>
        <p:txBody>
          <a:bodyPr/>
          <a:lstStyle/>
          <a:p>
            <a:fld id="{306A3643-F24E-443B-9C17-876E39B874C2}" type="slidenum">
              <a:rPr lang="nl-NL" smtClean="0"/>
              <a:t>‹nr.›</a:t>
            </a:fld>
            <a:endParaRPr lang="nl-NL"/>
          </a:p>
        </p:txBody>
      </p:sp>
    </p:spTree>
    <p:extLst>
      <p:ext uri="{BB962C8B-B14F-4D97-AF65-F5344CB8AC3E}">
        <p14:creationId xmlns:p14="http://schemas.microsoft.com/office/powerpoint/2010/main" val="2138874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12CF88-D36C-8A29-7194-94B0E9408095}"/>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9805B032-9716-F7CB-B466-706A48C3D9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4C09BCC8-C70F-AE0F-9D6A-782A9B7A5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B4181B9C-108B-349E-8797-4626268D5AA8}"/>
              </a:ext>
            </a:extLst>
          </p:cNvPr>
          <p:cNvSpPr>
            <a:spLocks noGrp="1"/>
          </p:cNvSpPr>
          <p:nvPr>
            <p:ph type="dt" sz="half" idx="10"/>
          </p:nvPr>
        </p:nvSpPr>
        <p:spPr/>
        <p:txBody>
          <a:bodyPr/>
          <a:lstStyle/>
          <a:p>
            <a:fld id="{6C4CCC25-5404-4923-9FAB-28E26CEBE66F}" type="datetimeFigureOut">
              <a:rPr lang="nl-NL" smtClean="0"/>
              <a:t>25-2-2026</a:t>
            </a:fld>
            <a:endParaRPr lang="nl-NL"/>
          </a:p>
        </p:txBody>
      </p:sp>
      <p:sp>
        <p:nvSpPr>
          <p:cNvPr id="6" name="Tijdelijke aanduiding voor voettekst 5">
            <a:extLst>
              <a:ext uri="{FF2B5EF4-FFF2-40B4-BE49-F238E27FC236}">
                <a16:creationId xmlns:a16="http://schemas.microsoft.com/office/drawing/2014/main" id="{4F544952-D8DC-B75D-6E1D-D9B163504A32}"/>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68990288-7A51-3B4E-6C43-6CF41301D61D}"/>
              </a:ext>
            </a:extLst>
          </p:cNvPr>
          <p:cNvSpPr>
            <a:spLocks noGrp="1"/>
          </p:cNvSpPr>
          <p:nvPr>
            <p:ph type="sldNum" sz="quarter" idx="12"/>
          </p:nvPr>
        </p:nvSpPr>
        <p:spPr/>
        <p:txBody>
          <a:bodyPr/>
          <a:lstStyle/>
          <a:p>
            <a:fld id="{306A3643-F24E-443B-9C17-876E39B874C2}" type="slidenum">
              <a:rPr lang="nl-NL" smtClean="0"/>
              <a:t>‹nr.›</a:t>
            </a:fld>
            <a:endParaRPr lang="nl-NL"/>
          </a:p>
        </p:txBody>
      </p:sp>
    </p:spTree>
    <p:extLst>
      <p:ext uri="{BB962C8B-B14F-4D97-AF65-F5344CB8AC3E}">
        <p14:creationId xmlns:p14="http://schemas.microsoft.com/office/powerpoint/2010/main" val="1551866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931557-B98A-BB83-61C3-671EB08D511B}"/>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02486713-D40D-036B-FDC6-10D9954383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BB1F5794-974E-EE89-CDF0-9F05F4E03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2D529D75-BD98-B5CE-00A9-A94F753E74D6}"/>
              </a:ext>
            </a:extLst>
          </p:cNvPr>
          <p:cNvSpPr>
            <a:spLocks noGrp="1"/>
          </p:cNvSpPr>
          <p:nvPr>
            <p:ph type="dt" sz="half" idx="10"/>
          </p:nvPr>
        </p:nvSpPr>
        <p:spPr/>
        <p:txBody>
          <a:bodyPr/>
          <a:lstStyle/>
          <a:p>
            <a:fld id="{6C4CCC25-5404-4923-9FAB-28E26CEBE66F}" type="datetimeFigureOut">
              <a:rPr lang="nl-NL" smtClean="0"/>
              <a:t>25-2-2026</a:t>
            </a:fld>
            <a:endParaRPr lang="nl-NL"/>
          </a:p>
        </p:txBody>
      </p:sp>
      <p:sp>
        <p:nvSpPr>
          <p:cNvPr id="6" name="Tijdelijke aanduiding voor voettekst 5">
            <a:extLst>
              <a:ext uri="{FF2B5EF4-FFF2-40B4-BE49-F238E27FC236}">
                <a16:creationId xmlns:a16="http://schemas.microsoft.com/office/drawing/2014/main" id="{1E4F90D4-D078-3825-1F38-8B0DBDBD8249}"/>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2405227D-D3DB-31E6-4048-C5ADDCE9F06A}"/>
              </a:ext>
            </a:extLst>
          </p:cNvPr>
          <p:cNvSpPr>
            <a:spLocks noGrp="1"/>
          </p:cNvSpPr>
          <p:nvPr>
            <p:ph type="sldNum" sz="quarter" idx="12"/>
          </p:nvPr>
        </p:nvSpPr>
        <p:spPr/>
        <p:txBody>
          <a:bodyPr/>
          <a:lstStyle/>
          <a:p>
            <a:fld id="{306A3643-F24E-443B-9C17-876E39B874C2}" type="slidenum">
              <a:rPr lang="nl-NL" smtClean="0"/>
              <a:t>‹nr.›</a:t>
            </a:fld>
            <a:endParaRPr lang="nl-NL"/>
          </a:p>
        </p:txBody>
      </p:sp>
    </p:spTree>
    <p:extLst>
      <p:ext uri="{BB962C8B-B14F-4D97-AF65-F5344CB8AC3E}">
        <p14:creationId xmlns:p14="http://schemas.microsoft.com/office/powerpoint/2010/main" val="4063415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ABCD46-C624-91A9-3473-DA7C2C992841}"/>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7F2628F4-4813-F9ED-B83C-D4AB1E1FD028}"/>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3B9758DD-E6C7-18ED-6B64-6082241F3347}"/>
              </a:ext>
            </a:extLst>
          </p:cNvPr>
          <p:cNvSpPr>
            <a:spLocks noGrp="1"/>
          </p:cNvSpPr>
          <p:nvPr>
            <p:ph type="dt" sz="half" idx="10"/>
          </p:nvPr>
        </p:nvSpPr>
        <p:spPr/>
        <p:txBody>
          <a:bodyPr/>
          <a:lstStyle/>
          <a:p>
            <a:fld id="{6C4CCC25-5404-4923-9FAB-28E26CEBE66F}" type="datetimeFigureOut">
              <a:rPr lang="nl-NL" smtClean="0"/>
              <a:t>25-2-2026</a:t>
            </a:fld>
            <a:endParaRPr lang="nl-NL"/>
          </a:p>
        </p:txBody>
      </p:sp>
      <p:sp>
        <p:nvSpPr>
          <p:cNvPr id="5" name="Tijdelijke aanduiding voor voettekst 4">
            <a:extLst>
              <a:ext uri="{FF2B5EF4-FFF2-40B4-BE49-F238E27FC236}">
                <a16:creationId xmlns:a16="http://schemas.microsoft.com/office/drawing/2014/main" id="{677F88DB-5241-AE28-3AA5-F209C0E9C35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5CDA67B-1729-873A-C67E-AC11E084100C}"/>
              </a:ext>
            </a:extLst>
          </p:cNvPr>
          <p:cNvSpPr>
            <a:spLocks noGrp="1"/>
          </p:cNvSpPr>
          <p:nvPr>
            <p:ph type="sldNum" sz="quarter" idx="12"/>
          </p:nvPr>
        </p:nvSpPr>
        <p:spPr/>
        <p:txBody>
          <a:bodyPr/>
          <a:lstStyle/>
          <a:p>
            <a:fld id="{306A3643-F24E-443B-9C17-876E39B874C2}" type="slidenum">
              <a:rPr lang="nl-NL" smtClean="0"/>
              <a:t>‹nr.›</a:t>
            </a:fld>
            <a:endParaRPr lang="nl-NL"/>
          </a:p>
        </p:txBody>
      </p:sp>
    </p:spTree>
    <p:extLst>
      <p:ext uri="{BB962C8B-B14F-4D97-AF65-F5344CB8AC3E}">
        <p14:creationId xmlns:p14="http://schemas.microsoft.com/office/powerpoint/2010/main" val="1413463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39788F46-B1FE-D5D9-11BB-C35B7B07D565}"/>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A0F3F1C2-8D9A-3969-5D99-6955DDA89D76}"/>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F8E41D45-ECE6-FE43-EA44-7EDD636391C5}"/>
              </a:ext>
            </a:extLst>
          </p:cNvPr>
          <p:cNvSpPr>
            <a:spLocks noGrp="1"/>
          </p:cNvSpPr>
          <p:nvPr>
            <p:ph type="dt" sz="half" idx="10"/>
          </p:nvPr>
        </p:nvSpPr>
        <p:spPr/>
        <p:txBody>
          <a:bodyPr/>
          <a:lstStyle/>
          <a:p>
            <a:fld id="{6C4CCC25-5404-4923-9FAB-28E26CEBE66F}" type="datetimeFigureOut">
              <a:rPr lang="nl-NL" smtClean="0"/>
              <a:t>25-2-2026</a:t>
            </a:fld>
            <a:endParaRPr lang="nl-NL"/>
          </a:p>
        </p:txBody>
      </p:sp>
      <p:sp>
        <p:nvSpPr>
          <p:cNvPr id="5" name="Tijdelijke aanduiding voor voettekst 4">
            <a:extLst>
              <a:ext uri="{FF2B5EF4-FFF2-40B4-BE49-F238E27FC236}">
                <a16:creationId xmlns:a16="http://schemas.microsoft.com/office/drawing/2014/main" id="{E2859C4D-2F0E-7FBF-8CC2-05715BAF6E1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D534CCD-F8BE-D3AD-D856-7C6DB6BFDD1E}"/>
              </a:ext>
            </a:extLst>
          </p:cNvPr>
          <p:cNvSpPr>
            <a:spLocks noGrp="1"/>
          </p:cNvSpPr>
          <p:nvPr>
            <p:ph type="sldNum" sz="quarter" idx="12"/>
          </p:nvPr>
        </p:nvSpPr>
        <p:spPr/>
        <p:txBody>
          <a:bodyPr/>
          <a:lstStyle/>
          <a:p>
            <a:fld id="{306A3643-F24E-443B-9C17-876E39B874C2}" type="slidenum">
              <a:rPr lang="nl-NL" smtClean="0"/>
              <a:t>‹nr.›</a:t>
            </a:fld>
            <a:endParaRPr lang="nl-NL"/>
          </a:p>
        </p:txBody>
      </p:sp>
    </p:spTree>
    <p:extLst>
      <p:ext uri="{BB962C8B-B14F-4D97-AF65-F5344CB8AC3E}">
        <p14:creationId xmlns:p14="http://schemas.microsoft.com/office/powerpoint/2010/main" val="441193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F04746A6-C730-D85D-1838-560AD3AA65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1F7468B6-E989-AFB0-6D54-6F4527F076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83FCD341-EE64-4EA8-BB64-2E77BCAC34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4CCC25-5404-4923-9FAB-28E26CEBE66F}" type="datetimeFigureOut">
              <a:rPr lang="nl-NL" smtClean="0"/>
              <a:t>25-2-2026</a:t>
            </a:fld>
            <a:endParaRPr lang="nl-NL"/>
          </a:p>
        </p:txBody>
      </p:sp>
      <p:sp>
        <p:nvSpPr>
          <p:cNvPr id="5" name="Tijdelijke aanduiding voor voettekst 4">
            <a:extLst>
              <a:ext uri="{FF2B5EF4-FFF2-40B4-BE49-F238E27FC236}">
                <a16:creationId xmlns:a16="http://schemas.microsoft.com/office/drawing/2014/main" id="{19247A4C-A8A2-746D-F425-C642BF2FC3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2AD61136-FDB1-A589-D1D4-0D74417C65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6A3643-F24E-443B-9C17-876E39B874C2}" type="slidenum">
              <a:rPr lang="nl-NL" smtClean="0"/>
              <a:t>‹nr.›</a:t>
            </a:fld>
            <a:endParaRPr lang="nl-NL"/>
          </a:p>
        </p:txBody>
      </p:sp>
    </p:spTree>
    <p:extLst>
      <p:ext uri="{BB962C8B-B14F-4D97-AF65-F5344CB8AC3E}">
        <p14:creationId xmlns:p14="http://schemas.microsoft.com/office/powerpoint/2010/main" val="1372390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pic>
        <p:nvPicPr>
          <p:cNvPr id="7" name="Afbeelding 6" descr="Afbeelding met verjaardagstaart, tekenfilm, taart&#10;&#10;Door AI gegenereerde inhoud is mogelijk onjuist.">
            <a:extLst>
              <a:ext uri="{FF2B5EF4-FFF2-40B4-BE49-F238E27FC236}">
                <a16:creationId xmlns:a16="http://schemas.microsoft.com/office/drawing/2014/main" id="{AFD6E234-9456-DACC-2C70-9D87591D4AF1}"/>
              </a:ext>
            </a:extLst>
          </p:cNvPr>
          <p:cNvPicPr>
            <a:picLocks noChangeAspect="1"/>
          </p:cNvPicPr>
          <p:nvPr/>
        </p:nvPicPr>
        <p:blipFill>
          <a:blip r:embed="rId3">
            <a:extLst>
              <a:ext uri="{28A0092B-C50C-407E-A947-70E740481C1C}">
                <a14:useLocalDpi xmlns:a14="http://schemas.microsoft.com/office/drawing/2010/main" val="0"/>
              </a:ext>
            </a:extLst>
          </a:blip>
          <a:srcRect t="14276" b="20403"/>
          <a:stretch>
            <a:fillRect/>
          </a:stretch>
        </p:blipFill>
        <p:spPr>
          <a:xfrm>
            <a:off x="3646712" y="750198"/>
            <a:ext cx="4898571" cy="4799610"/>
          </a:xfrm>
          <a:prstGeom prst="rect">
            <a:avLst/>
          </a:prstGeom>
        </p:spPr>
      </p:pic>
      <p:sp>
        <p:nvSpPr>
          <p:cNvPr id="8" name="Lint: gekromd en omlaag gekanteld 7">
            <a:extLst>
              <a:ext uri="{FF2B5EF4-FFF2-40B4-BE49-F238E27FC236}">
                <a16:creationId xmlns:a16="http://schemas.microsoft.com/office/drawing/2014/main" id="{05F9EA29-A144-96B7-FE20-94D548AE40D9}"/>
              </a:ext>
            </a:extLst>
          </p:cNvPr>
          <p:cNvSpPr/>
          <p:nvPr/>
        </p:nvSpPr>
        <p:spPr>
          <a:xfrm>
            <a:off x="2995519" y="5307448"/>
            <a:ext cx="5964184" cy="995083"/>
          </a:xfrm>
          <a:prstGeom prst="ellipseRibbon">
            <a:avLst>
              <a:gd name="adj1" fmla="val 25000"/>
              <a:gd name="adj2" fmla="val 75000"/>
              <a:gd name="adj3" fmla="val 125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3200" dirty="0">
                <a:latin typeface="Aptos Black" panose="020F0502020204030204" pitchFamily="34" charset="0"/>
              </a:rPr>
              <a:t>Zorgeloos genieten</a:t>
            </a:r>
          </a:p>
        </p:txBody>
      </p:sp>
    </p:spTree>
    <p:extLst>
      <p:ext uri="{BB962C8B-B14F-4D97-AF65-F5344CB8AC3E}">
        <p14:creationId xmlns:p14="http://schemas.microsoft.com/office/powerpoint/2010/main" val="4202934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D40D38-B87D-23F4-EE6F-9BD12394C651}"/>
              </a:ext>
            </a:extLst>
          </p:cNvPr>
          <p:cNvSpPr>
            <a:spLocks noGrp="1"/>
          </p:cNvSpPr>
          <p:nvPr>
            <p:ph type="title"/>
          </p:nvPr>
        </p:nvSpPr>
        <p:spPr/>
        <p:txBody>
          <a:bodyPr/>
          <a:lstStyle/>
          <a:p>
            <a:r>
              <a:rPr lang="nl-NL" dirty="0"/>
              <a:t>Missie </a:t>
            </a:r>
            <a:r>
              <a:rPr lang="nl-NL" dirty="0" err="1"/>
              <a:t>Hoppo</a:t>
            </a:r>
            <a:endParaRPr lang="nl-NL" dirty="0"/>
          </a:p>
        </p:txBody>
      </p:sp>
      <p:sp>
        <p:nvSpPr>
          <p:cNvPr id="3" name="Tijdelijke aanduiding voor inhoud 2">
            <a:extLst>
              <a:ext uri="{FF2B5EF4-FFF2-40B4-BE49-F238E27FC236}">
                <a16:creationId xmlns:a16="http://schemas.microsoft.com/office/drawing/2014/main" id="{515260F1-1386-0165-8944-08B272896C64}"/>
              </a:ext>
            </a:extLst>
          </p:cNvPr>
          <p:cNvSpPr>
            <a:spLocks noGrp="1"/>
          </p:cNvSpPr>
          <p:nvPr>
            <p:ph idx="1"/>
          </p:nvPr>
        </p:nvSpPr>
        <p:spPr/>
        <p:txBody>
          <a:bodyPr/>
          <a:lstStyle/>
          <a:p>
            <a:pPr marL="0" indent="0">
              <a:buNone/>
            </a:pPr>
            <a:r>
              <a:rPr lang="nl-NL" dirty="0"/>
              <a:t>Gaan voor genezing van diabetes T1 door geld op te halen met de verkoop van lekker bier</a:t>
            </a:r>
          </a:p>
        </p:txBody>
      </p:sp>
    </p:spTree>
    <p:extLst>
      <p:ext uri="{BB962C8B-B14F-4D97-AF65-F5344CB8AC3E}">
        <p14:creationId xmlns:p14="http://schemas.microsoft.com/office/powerpoint/2010/main" val="1902345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A29171C-4528-0824-183E-E4A3BC9A29E6}"/>
              </a:ext>
            </a:extLst>
          </p:cNvPr>
          <p:cNvSpPr>
            <a:spLocks noGrp="1"/>
          </p:cNvSpPr>
          <p:nvPr>
            <p:ph type="title"/>
          </p:nvPr>
        </p:nvSpPr>
        <p:spPr/>
        <p:txBody>
          <a:bodyPr/>
          <a:lstStyle/>
          <a:p>
            <a:r>
              <a:rPr lang="nl-NL" dirty="0"/>
              <a:t>Wat is diabetes in cijfers</a:t>
            </a:r>
          </a:p>
        </p:txBody>
      </p:sp>
      <p:sp>
        <p:nvSpPr>
          <p:cNvPr id="3" name="Tijdelijke aanduiding voor inhoud 2">
            <a:extLst>
              <a:ext uri="{FF2B5EF4-FFF2-40B4-BE49-F238E27FC236}">
                <a16:creationId xmlns:a16="http://schemas.microsoft.com/office/drawing/2014/main" id="{075BDABA-F9B5-5B1D-C2A6-D1B061A53233}"/>
              </a:ext>
            </a:extLst>
          </p:cNvPr>
          <p:cNvSpPr>
            <a:spLocks noGrp="1"/>
          </p:cNvSpPr>
          <p:nvPr>
            <p:ph idx="1"/>
          </p:nvPr>
        </p:nvSpPr>
        <p:spPr/>
        <p:txBody>
          <a:bodyPr>
            <a:normAutofit/>
          </a:bodyPr>
          <a:lstStyle/>
          <a:p>
            <a:r>
              <a:rPr lang="nl-NL" dirty="0"/>
              <a:t>120.000 mensen diabetes T1 in NL</a:t>
            </a:r>
          </a:p>
          <a:p>
            <a:r>
              <a:rPr lang="nl-NL" dirty="0"/>
              <a:t>9,2 miljoen mensen diabetes T1 wereldwijd</a:t>
            </a:r>
          </a:p>
          <a:p>
            <a:r>
              <a:rPr lang="nl-NL" dirty="0"/>
              <a:t>€15.000 kost 1 diabeet p/j in NL</a:t>
            </a:r>
          </a:p>
          <a:p>
            <a:r>
              <a:rPr lang="nl-NL" dirty="0"/>
              <a:t>€1,8 miljard kosten diabeten p/j (</a:t>
            </a:r>
            <a:r>
              <a:rPr lang="nl-NL" dirty="0" err="1"/>
              <a:t>excl</a:t>
            </a:r>
            <a:r>
              <a:rPr lang="nl-NL" dirty="0"/>
              <a:t> complicaties)</a:t>
            </a:r>
          </a:p>
          <a:p>
            <a:endParaRPr lang="nl-NL" dirty="0"/>
          </a:p>
          <a:p>
            <a:r>
              <a:rPr lang="nl-NL" dirty="0"/>
              <a:t>Insuline uitgevonden in 1921, voor die tijd overleden mensen</a:t>
            </a:r>
          </a:p>
          <a:p>
            <a:r>
              <a:rPr lang="nl-NL" dirty="0"/>
              <a:t>Door erfelijkheid groeit het aantal sindsdien gestaag</a:t>
            </a:r>
          </a:p>
          <a:p>
            <a:r>
              <a:rPr lang="nl-NL" dirty="0"/>
              <a:t>2700 nieuwe diabeten p/j</a:t>
            </a:r>
          </a:p>
        </p:txBody>
      </p:sp>
    </p:spTree>
    <p:extLst>
      <p:ext uri="{BB962C8B-B14F-4D97-AF65-F5344CB8AC3E}">
        <p14:creationId xmlns:p14="http://schemas.microsoft.com/office/powerpoint/2010/main" val="49547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79883-7EA8-BACC-C863-F094BA804F9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BED16C0-E655-6DA5-3ABD-9164598327BB}"/>
              </a:ext>
            </a:extLst>
          </p:cNvPr>
          <p:cNvSpPr>
            <a:spLocks noGrp="1"/>
          </p:cNvSpPr>
          <p:nvPr>
            <p:ph type="title"/>
          </p:nvPr>
        </p:nvSpPr>
        <p:spPr/>
        <p:txBody>
          <a:bodyPr/>
          <a:lstStyle/>
          <a:p>
            <a:r>
              <a:rPr lang="nl-NL" dirty="0"/>
              <a:t>Wat is diabetes om mee te leven</a:t>
            </a:r>
          </a:p>
        </p:txBody>
      </p:sp>
      <p:sp>
        <p:nvSpPr>
          <p:cNvPr id="3" name="Tijdelijke aanduiding voor inhoud 2">
            <a:extLst>
              <a:ext uri="{FF2B5EF4-FFF2-40B4-BE49-F238E27FC236}">
                <a16:creationId xmlns:a16="http://schemas.microsoft.com/office/drawing/2014/main" id="{61B88A61-1E45-7907-1FC5-2A78FB698073}"/>
              </a:ext>
            </a:extLst>
          </p:cNvPr>
          <p:cNvSpPr>
            <a:spLocks noGrp="1"/>
          </p:cNvSpPr>
          <p:nvPr>
            <p:ph idx="1"/>
          </p:nvPr>
        </p:nvSpPr>
        <p:spPr/>
        <p:txBody>
          <a:bodyPr>
            <a:normAutofit/>
          </a:bodyPr>
          <a:lstStyle/>
          <a:p>
            <a:r>
              <a:rPr lang="nl-NL" dirty="0"/>
              <a:t>300 besluiten per dag om diabetes goed in control te houden</a:t>
            </a:r>
          </a:p>
          <a:p>
            <a:r>
              <a:rPr lang="nl-NL" dirty="0"/>
              <a:t>Lekken van energie door schommelingen</a:t>
            </a:r>
          </a:p>
          <a:p>
            <a:r>
              <a:rPr lang="nl-NL" dirty="0"/>
              <a:t>Pijnlijke plekken op lijf</a:t>
            </a:r>
          </a:p>
          <a:p>
            <a:r>
              <a:rPr lang="nl-NL" dirty="0"/>
              <a:t>Beperking op leven (vooral bij kinderen)</a:t>
            </a:r>
          </a:p>
          <a:p>
            <a:r>
              <a:rPr lang="nl-NL" dirty="0"/>
              <a:t>Risico’s op lange termijn complicaties</a:t>
            </a:r>
          </a:p>
          <a:p>
            <a:r>
              <a:rPr lang="nl-NL" dirty="0"/>
              <a:t>Gemiddeld 15 jaar korter leven</a:t>
            </a:r>
          </a:p>
          <a:p>
            <a:pPr marL="0" indent="0">
              <a:buNone/>
            </a:pPr>
            <a:endParaRPr lang="nl-NL" dirty="0"/>
          </a:p>
        </p:txBody>
      </p:sp>
    </p:spTree>
    <p:extLst>
      <p:ext uri="{BB962C8B-B14F-4D97-AF65-F5344CB8AC3E}">
        <p14:creationId xmlns:p14="http://schemas.microsoft.com/office/powerpoint/2010/main" val="4063236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D0D493-E42A-D941-CC6C-856C9A4FD479}"/>
              </a:ext>
            </a:extLst>
          </p:cNvPr>
          <p:cNvSpPr>
            <a:spLocks noGrp="1"/>
          </p:cNvSpPr>
          <p:nvPr>
            <p:ph type="title"/>
          </p:nvPr>
        </p:nvSpPr>
        <p:spPr/>
        <p:txBody>
          <a:bodyPr/>
          <a:lstStyle/>
          <a:p>
            <a:r>
              <a:rPr lang="nl-NL" dirty="0"/>
              <a:t>Don en </a:t>
            </a:r>
            <a:r>
              <a:rPr lang="nl-NL" dirty="0" err="1"/>
              <a:t>CureOne</a:t>
            </a:r>
            <a:endParaRPr lang="nl-NL" dirty="0"/>
          </a:p>
        </p:txBody>
      </p:sp>
      <p:sp>
        <p:nvSpPr>
          <p:cNvPr id="3" name="Tijdelijke aanduiding voor inhoud 2">
            <a:extLst>
              <a:ext uri="{FF2B5EF4-FFF2-40B4-BE49-F238E27FC236}">
                <a16:creationId xmlns:a16="http://schemas.microsoft.com/office/drawing/2014/main" id="{1AA0C4CA-F195-6D5B-BF65-6AA402F5D4FB}"/>
              </a:ext>
            </a:extLst>
          </p:cNvPr>
          <p:cNvSpPr>
            <a:spLocks noGrp="1"/>
          </p:cNvSpPr>
          <p:nvPr>
            <p:ph idx="1"/>
          </p:nvPr>
        </p:nvSpPr>
        <p:spPr>
          <a:xfrm>
            <a:off x="838200" y="1825625"/>
            <a:ext cx="10515600" cy="4518468"/>
          </a:xfrm>
        </p:spPr>
        <p:txBody>
          <a:bodyPr>
            <a:normAutofit fontScale="92500" lnSpcReduction="10000"/>
          </a:bodyPr>
          <a:lstStyle/>
          <a:p>
            <a:r>
              <a:rPr lang="nl-NL" dirty="0"/>
              <a:t>Don is een stichting die geld ophaalt en schenkt aan onderzoeken rondom genezing van diabetes en ziet toe op welke onderzoeken prioriteit krijgen</a:t>
            </a:r>
          </a:p>
          <a:p>
            <a:r>
              <a:rPr lang="nl-NL" dirty="0"/>
              <a:t>Cure </a:t>
            </a:r>
            <a:r>
              <a:rPr lang="nl-NL" dirty="0" err="1"/>
              <a:t>One</a:t>
            </a:r>
            <a:r>
              <a:rPr lang="nl-NL" dirty="0"/>
              <a:t> is onderzoekscentrum waar onderzoekers bezig zijn met genezing van diabetes en dus niet met geld</a:t>
            </a:r>
          </a:p>
          <a:p>
            <a:r>
              <a:rPr lang="nl-NL" dirty="0"/>
              <a:t>Ze hebben elkaar dus nodig</a:t>
            </a:r>
          </a:p>
          <a:p>
            <a:endParaRPr lang="nl-NL" dirty="0"/>
          </a:p>
          <a:p>
            <a:r>
              <a:rPr lang="nl-NL" dirty="0"/>
              <a:t>DON focus op geld en prioriteiten bepalen</a:t>
            </a:r>
          </a:p>
          <a:p>
            <a:r>
              <a:rPr lang="nl-NL" dirty="0"/>
              <a:t>Cure </a:t>
            </a:r>
            <a:r>
              <a:rPr lang="nl-NL" dirty="0" err="1"/>
              <a:t>One</a:t>
            </a:r>
            <a:r>
              <a:rPr lang="nl-NL" dirty="0"/>
              <a:t> focus op </a:t>
            </a:r>
            <a:r>
              <a:rPr lang="nl-NL" dirty="0" err="1"/>
              <a:t>behale</a:t>
            </a:r>
            <a:r>
              <a:rPr lang="nl-NL" dirty="0"/>
              <a:t> van resultaten via onderzoeken</a:t>
            </a:r>
          </a:p>
          <a:p>
            <a:r>
              <a:rPr lang="nl-NL" dirty="0"/>
              <a:t>Don waakt over het geld en of de juiste onderzoeken plaats vinden, waardoor de snelheid van genezing bevorderd wordt</a:t>
            </a:r>
          </a:p>
        </p:txBody>
      </p:sp>
    </p:spTree>
    <p:extLst>
      <p:ext uri="{BB962C8B-B14F-4D97-AF65-F5344CB8AC3E}">
        <p14:creationId xmlns:p14="http://schemas.microsoft.com/office/powerpoint/2010/main" val="3904338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5B83C-83C8-F74C-BD73-9B55062E05E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94E94AE-2E2A-79A9-C682-5ABFD5142A26}"/>
              </a:ext>
            </a:extLst>
          </p:cNvPr>
          <p:cNvSpPr>
            <a:spLocks noGrp="1"/>
          </p:cNvSpPr>
          <p:nvPr>
            <p:ph type="title"/>
          </p:nvPr>
        </p:nvSpPr>
        <p:spPr/>
        <p:txBody>
          <a:bodyPr/>
          <a:lstStyle/>
          <a:p>
            <a:r>
              <a:rPr lang="nl-NL" dirty="0"/>
              <a:t>Don </a:t>
            </a:r>
            <a:r>
              <a:rPr lang="nl-NL" dirty="0" err="1"/>
              <a:t>vs</a:t>
            </a:r>
            <a:r>
              <a:rPr lang="nl-NL" dirty="0"/>
              <a:t> diabetes vereniging NL</a:t>
            </a:r>
          </a:p>
        </p:txBody>
      </p:sp>
      <p:sp>
        <p:nvSpPr>
          <p:cNvPr id="3" name="Tijdelijke aanduiding voor inhoud 2">
            <a:extLst>
              <a:ext uri="{FF2B5EF4-FFF2-40B4-BE49-F238E27FC236}">
                <a16:creationId xmlns:a16="http://schemas.microsoft.com/office/drawing/2014/main" id="{CFE17D19-7E1C-F4BA-57A4-ED2348495940}"/>
              </a:ext>
            </a:extLst>
          </p:cNvPr>
          <p:cNvSpPr>
            <a:spLocks noGrp="1"/>
          </p:cNvSpPr>
          <p:nvPr>
            <p:ph idx="1"/>
          </p:nvPr>
        </p:nvSpPr>
        <p:spPr/>
        <p:txBody>
          <a:bodyPr>
            <a:normAutofit/>
          </a:bodyPr>
          <a:lstStyle/>
          <a:p>
            <a:r>
              <a:rPr lang="nl-NL" dirty="0" err="1"/>
              <a:t>Hoppo</a:t>
            </a:r>
            <a:r>
              <a:rPr lang="nl-NL" dirty="0"/>
              <a:t> kiest bewust voor DON omdat zij gaan voor genezing van diabetes T1. diabetes vereniging NL heeft een veel bredere visie en kijkt meer naar vandaag en morgen. </a:t>
            </a:r>
          </a:p>
        </p:txBody>
      </p:sp>
    </p:spTree>
    <p:extLst>
      <p:ext uri="{BB962C8B-B14F-4D97-AF65-F5344CB8AC3E}">
        <p14:creationId xmlns:p14="http://schemas.microsoft.com/office/powerpoint/2010/main" val="3191019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FBAED-2B88-6D16-084B-F068D6DD6B4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C698B9C-CEAF-7BE4-FC6D-E346E49580F8}"/>
              </a:ext>
            </a:extLst>
          </p:cNvPr>
          <p:cNvSpPr>
            <a:spLocks noGrp="1"/>
          </p:cNvSpPr>
          <p:nvPr>
            <p:ph type="title"/>
          </p:nvPr>
        </p:nvSpPr>
        <p:spPr/>
        <p:txBody>
          <a:bodyPr/>
          <a:lstStyle/>
          <a:p>
            <a:r>
              <a:rPr lang="nl-NL" dirty="0" err="1"/>
              <a:t>Hoppo</a:t>
            </a:r>
            <a:endParaRPr lang="nl-NL" dirty="0"/>
          </a:p>
        </p:txBody>
      </p:sp>
      <p:sp>
        <p:nvSpPr>
          <p:cNvPr id="3" name="Tijdelijke aanduiding voor inhoud 2">
            <a:extLst>
              <a:ext uri="{FF2B5EF4-FFF2-40B4-BE49-F238E27FC236}">
                <a16:creationId xmlns:a16="http://schemas.microsoft.com/office/drawing/2014/main" id="{C58A68D9-BEED-1104-A146-3EDE5ED3CA91}"/>
              </a:ext>
            </a:extLst>
          </p:cNvPr>
          <p:cNvSpPr>
            <a:spLocks noGrp="1"/>
          </p:cNvSpPr>
          <p:nvPr>
            <p:ph idx="1"/>
          </p:nvPr>
        </p:nvSpPr>
        <p:spPr/>
        <p:txBody>
          <a:bodyPr/>
          <a:lstStyle/>
          <a:p>
            <a:r>
              <a:rPr lang="nl-NL" dirty="0"/>
              <a:t>Naam: Hop + Hypo = </a:t>
            </a:r>
            <a:r>
              <a:rPr lang="nl-NL" dirty="0" err="1"/>
              <a:t>Hoppo</a:t>
            </a:r>
            <a:endParaRPr lang="nl-NL" dirty="0"/>
          </a:p>
          <a:p>
            <a:r>
              <a:rPr lang="nl-NL" dirty="0"/>
              <a:t>Mascotte: </a:t>
            </a:r>
            <a:r>
              <a:rPr lang="nl-NL" dirty="0" err="1"/>
              <a:t>Hoppo</a:t>
            </a:r>
            <a:r>
              <a:rPr lang="nl-NL" dirty="0"/>
              <a:t> =&gt; Hippo (nijlpaard) met diabetes</a:t>
            </a:r>
          </a:p>
          <a:p>
            <a:r>
              <a:rPr lang="nl-NL" dirty="0"/>
              <a:t>Doel: Terwijl jij geniet van heerlijk bier, impact maken op genezing van diabetes</a:t>
            </a:r>
          </a:p>
          <a:p>
            <a:r>
              <a:rPr lang="nl-NL" dirty="0"/>
              <a:t>Moos (zoon Jos) is nu 7 en heeft vanaf zijn 5</a:t>
            </a:r>
            <a:r>
              <a:rPr lang="nl-NL" baseline="30000" dirty="0"/>
              <a:t>de</a:t>
            </a:r>
            <a:r>
              <a:rPr lang="nl-NL" dirty="0"/>
              <a:t> diabetes. Met elkaar zorgen wij ervoor dat Moos op zijn 18</a:t>
            </a:r>
            <a:r>
              <a:rPr lang="nl-NL" baseline="30000" dirty="0"/>
              <a:t>de</a:t>
            </a:r>
            <a:r>
              <a:rPr lang="nl-NL" dirty="0"/>
              <a:t> zonder zorgen kan genieten van een biertje.</a:t>
            </a:r>
          </a:p>
        </p:txBody>
      </p:sp>
    </p:spTree>
    <p:extLst>
      <p:ext uri="{BB962C8B-B14F-4D97-AF65-F5344CB8AC3E}">
        <p14:creationId xmlns:p14="http://schemas.microsoft.com/office/powerpoint/2010/main" val="2026077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1A578-3F1E-A810-6342-7316D5F8749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B7C40D5-1047-D1EB-710C-EA26764067E1}"/>
              </a:ext>
            </a:extLst>
          </p:cNvPr>
          <p:cNvSpPr>
            <a:spLocks noGrp="1"/>
          </p:cNvSpPr>
          <p:nvPr>
            <p:ph type="title"/>
          </p:nvPr>
        </p:nvSpPr>
        <p:spPr/>
        <p:txBody>
          <a:bodyPr/>
          <a:lstStyle/>
          <a:p>
            <a:r>
              <a:rPr lang="nl-NL" dirty="0" err="1"/>
              <a:t>Hoppo</a:t>
            </a:r>
            <a:r>
              <a:rPr lang="nl-NL" dirty="0"/>
              <a:t> Business plan: </a:t>
            </a:r>
          </a:p>
        </p:txBody>
      </p:sp>
      <p:sp>
        <p:nvSpPr>
          <p:cNvPr id="3" name="Tijdelijke aanduiding voor inhoud 2">
            <a:extLst>
              <a:ext uri="{FF2B5EF4-FFF2-40B4-BE49-F238E27FC236}">
                <a16:creationId xmlns:a16="http://schemas.microsoft.com/office/drawing/2014/main" id="{8072442D-D9D8-259D-275D-4112C17FE272}"/>
              </a:ext>
            </a:extLst>
          </p:cNvPr>
          <p:cNvSpPr>
            <a:spLocks noGrp="1"/>
          </p:cNvSpPr>
          <p:nvPr>
            <p:ph idx="1"/>
          </p:nvPr>
        </p:nvSpPr>
        <p:spPr/>
        <p:txBody>
          <a:bodyPr/>
          <a:lstStyle/>
          <a:p>
            <a:r>
              <a:rPr lang="nl-NL" dirty="0"/>
              <a:t>Focus op recept ontwikkelen van heerlijk speciaal bier</a:t>
            </a:r>
          </a:p>
          <a:p>
            <a:r>
              <a:rPr lang="nl-NL" dirty="0"/>
              <a:t>Samen met  huurbrouwerij produceren</a:t>
            </a:r>
          </a:p>
          <a:p>
            <a:r>
              <a:rPr lang="nl-NL" dirty="0"/>
              <a:t>Verkoop via bedrijven en festivals</a:t>
            </a:r>
          </a:p>
          <a:p>
            <a:r>
              <a:rPr lang="nl-NL" dirty="0"/>
              <a:t>Door lage kosten zo veel mogelijk impact maken </a:t>
            </a:r>
          </a:p>
          <a:p>
            <a:r>
              <a:rPr lang="nl-NL" dirty="0"/>
              <a:t>Transparantie en </a:t>
            </a:r>
            <a:r>
              <a:rPr lang="nl-NL" dirty="0" err="1"/>
              <a:t>kpi’s</a:t>
            </a:r>
            <a:endParaRPr lang="nl-NL" dirty="0"/>
          </a:p>
          <a:p>
            <a:pPr lvl="1"/>
            <a:r>
              <a:rPr lang="nl-NL" dirty="0"/>
              <a:t>Aantal verkochte biertjes</a:t>
            </a:r>
          </a:p>
          <a:p>
            <a:pPr lvl="1"/>
            <a:r>
              <a:rPr lang="nl-NL" dirty="0"/>
              <a:t>Kostprijs per biertje</a:t>
            </a:r>
          </a:p>
          <a:p>
            <a:pPr lvl="1"/>
            <a:r>
              <a:rPr lang="nl-NL" dirty="0"/>
              <a:t>Zoveel € gedoneerd aan concreet onderzoek</a:t>
            </a:r>
          </a:p>
          <a:p>
            <a:pPr lvl="1"/>
            <a:r>
              <a:rPr lang="nl-NL" dirty="0"/>
              <a:t>Bier meter (wat kost het onderzoek en hoeveel is al opgehaald)</a:t>
            </a:r>
          </a:p>
        </p:txBody>
      </p:sp>
    </p:spTree>
    <p:extLst>
      <p:ext uri="{BB962C8B-B14F-4D97-AF65-F5344CB8AC3E}">
        <p14:creationId xmlns:p14="http://schemas.microsoft.com/office/powerpoint/2010/main" val="4090744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139BCE-8944-6833-69A4-66C3E80948ED}"/>
              </a:ext>
            </a:extLst>
          </p:cNvPr>
          <p:cNvSpPr>
            <a:spLocks noGrp="1"/>
          </p:cNvSpPr>
          <p:nvPr>
            <p:ph type="title"/>
          </p:nvPr>
        </p:nvSpPr>
        <p:spPr/>
        <p:txBody>
          <a:bodyPr/>
          <a:lstStyle/>
          <a:p>
            <a:r>
              <a:rPr lang="nl-NL" dirty="0"/>
              <a:t>Wat kun jij doen als ondernemer?</a:t>
            </a:r>
          </a:p>
        </p:txBody>
      </p:sp>
      <p:sp>
        <p:nvSpPr>
          <p:cNvPr id="3" name="Tijdelijke aanduiding voor inhoud 2">
            <a:extLst>
              <a:ext uri="{FF2B5EF4-FFF2-40B4-BE49-F238E27FC236}">
                <a16:creationId xmlns:a16="http://schemas.microsoft.com/office/drawing/2014/main" id="{DF3BBE62-D62E-653F-39AE-AA1219A99389}"/>
              </a:ext>
            </a:extLst>
          </p:cNvPr>
          <p:cNvSpPr>
            <a:spLocks noGrp="1"/>
          </p:cNvSpPr>
          <p:nvPr>
            <p:ph idx="1"/>
          </p:nvPr>
        </p:nvSpPr>
        <p:spPr/>
        <p:txBody>
          <a:bodyPr/>
          <a:lstStyle/>
          <a:p>
            <a:pPr marL="514350" indent="-514350">
              <a:buFont typeface="+mj-lt"/>
              <a:buAutoNum type="arabicPeriod"/>
            </a:pPr>
            <a:r>
              <a:rPr lang="nl-NL" dirty="0" err="1"/>
              <a:t>DONeren</a:t>
            </a:r>
            <a:r>
              <a:rPr lang="nl-NL" dirty="0"/>
              <a:t> via verkoop =&gt; je koopt bier bij </a:t>
            </a:r>
            <a:r>
              <a:rPr lang="nl-NL" dirty="0" err="1"/>
              <a:t>Hoppo</a:t>
            </a:r>
            <a:r>
              <a:rPr lang="nl-NL" dirty="0"/>
              <a:t> waarvan de opbrengst gaat naar Cure </a:t>
            </a:r>
            <a:r>
              <a:rPr lang="nl-NL" dirty="0" err="1"/>
              <a:t>One</a:t>
            </a:r>
            <a:endParaRPr lang="nl-NL" dirty="0"/>
          </a:p>
          <a:p>
            <a:pPr marL="514350" indent="-514350">
              <a:buFont typeface="+mj-lt"/>
              <a:buAutoNum type="arabicPeriod"/>
            </a:pPr>
            <a:r>
              <a:rPr lang="nl-NL" dirty="0" err="1"/>
              <a:t>DONeren</a:t>
            </a:r>
            <a:r>
              <a:rPr lang="nl-NL" dirty="0"/>
              <a:t> via schenking =&gt; </a:t>
            </a:r>
            <a:r>
              <a:rPr lang="nl-NL" dirty="0" err="1"/>
              <a:t>Hoppo</a:t>
            </a:r>
            <a:r>
              <a:rPr lang="nl-NL" dirty="0"/>
              <a:t> verdubbelt de schenking door er bier van te maken en te verkopen</a:t>
            </a:r>
          </a:p>
          <a:p>
            <a:pPr marL="514350" indent="-514350">
              <a:buFont typeface="+mj-lt"/>
              <a:buAutoNum type="arabicPeriod"/>
            </a:pPr>
            <a:r>
              <a:rPr lang="nl-NL" dirty="0" err="1"/>
              <a:t>DONeren</a:t>
            </a:r>
            <a:r>
              <a:rPr lang="nl-NL" dirty="0"/>
              <a:t> via goederen =&gt; Door de vaste kosten zo laag mogelijk te houden blijft het grootste gedeelte beschikbaar voor donatie</a:t>
            </a:r>
          </a:p>
          <a:p>
            <a:pPr marL="514350" indent="-514350">
              <a:buFont typeface="+mj-lt"/>
              <a:buAutoNum type="arabicPeriod"/>
            </a:pPr>
            <a:r>
              <a:rPr lang="nl-NL" dirty="0" err="1"/>
              <a:t>DONeren</a:t>
            </a:r>
            <a:r>
              <a:rPr lang="nl-NL" dirty="0"/>
              <a:t> via netwerk =&gt; netwerk geeft zichtbaarheid en laat de olievlek zo groot mogelijk worden</a:t>
            </a:r>
          </a:p>
        </p:txBody>
      </p:sp>
    </p:spTree>
    <p:extLst>
      <p:ext uri="{BB962C8B-B14F-4D97-AF65-F5344CB8AC3E}">
        <p14:creationId xmlns:p14="http://schemas.microsoft.com/office/powerpoint/2010/main" val="946447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29536B-8E42-F228-66EA-0FE8C3E6EF73}"/>
              </a:ext>
            </a:extLst>
          </p:cNvPr>
          <p:cNvSpPr>
            <a:spLocks noGrp="1"/>
          </p:cNvSpPr>
          <p:nvPr>
            <p:ph type="title"/>
          </p:nvPr>
        </p:nvSpPr>
        <p:spPr/>
        <p:txBody>
          <a:bodyPr/>
          <a:lstStyle/>
          <a:p>
            <a:r>
              <a:rPr lang="nl-NL" dirty="0" err="1"/>
              <a:t>DONeren</a:t>
            </a:r>
            <a:r>
              <a:rPr lang="nl-NL" dirty="0"/>
              <a:t> via verkoop</a:t>
            </a:r>
          </a:p>
        </p:txBody>
      </p:sp>
      <p:sp>
        <p:nvSpPr>
          <p:cNvPr id="3" name="Tijdelijke aanduiding voor inhoud 2">
            <a:extLst>
              <a:ext uri="{FF2B5EF4-FFF2-40B4-BE49-F238E27FC236}">
                <a16:creationId xmlns:a16="http://schemas.microsoft.com/office/drawing/2014/main" id="{6481608D-F988-0835-7203-3312B3A1A6B0}"/>
              </a:ext>
            </a:extLst>
          </p:cNvPr>
          <p:cNvSpPr>
            <a:spLocks noGrp="1"/>
          </p:cNvSpPr>
          <p:nvPr>
            <p:ph idx="1"/>
          </p:nvPr>
        </p:nvSpPr>
        <p:spPr/>
        <p:txBody>
          <a:bodyPr/>
          <a:lstStyle/>
          <a:p>
            <a:r>
              <a:rPr lang="nl-NL" dirty="0"/>
              <a:t>Je koopt bier bij </a:t>
            </a:r>
            <a:r>
              <a:rPr lang="nl-NL" dirty="0" err="1"/>
              <a:t>Hoppo</a:t>
            </a:r>
            <a:r>
              <a:rPr lang="nl-NL" dirty="0"/>
              <a:t> voor een feest, kantine, event waarvan de opbrengst gaat naar stichting Don. Hoe meer er </a:t>
            </a:r>
            <a:r>
              <a:rPr lang="nl-NL" dirty="0" err="1"/>
              <a:t>Hoppo</a:t>
            </a:r>
            <a:r>
              <a:rPr lang="nl-NL" dirty="0"/>
              <a:t> gedronken worden des te groter de impact.</a:t>
            </a:r>
          </a:p>
          <a:p>
            <a:r>
              <a:rPr lang="nl-NL" dirty="0"/>
              <a:t>Richtprijs is 3,- per blikje</a:t>
            </a:r>
          </a:p>
          <a:p>
            <a:r>
              <a:rPr lang="nl-NL" dirty="0"/>
              <a:t>Hiervan gaat minimaal 50% naar stichting DON</a:t>
            </a:r>
          </a:p>
          <a:p>
            <a:r>
              <a:rPr lang="nl-NL" dirty="0"/>
              <a:t>Des te lager onze kosten, des te meer er doneert kan worden</a:t>
            </a:r>
          </a:p>
        </p:txBody>
      </p:sp>
    </p:spTree>
    <p:extLst>
      <p:ext uri="{BB962C8B-B14F-4D97-AF65-F5344CB8AC3E}">
        <p14:creationId xmlns:p14="http://schemas.microsoft.com/office/powerpoint/2010/main" val="1261854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3183F7-0C0C-F375-7511-D73A7BBFAC90}"/>
              </a:ext>
            </a:extLst>
          </p:cNvPr>
          <p:cNvSpPr>
            <a:spLocks noGrp="1"/>
          </p:cNvSpPr>
          <p:nvPr>
            <p:ph type="title"/>
          </p:nvPr>
        </p:nvSpPr>
        <p:spPr/>
        <p:txBody>
          <a:bodyPr/>
          <a:lstStyle/>
          <a:p>
            <a:r>
              <a:rPr lang="nl-NL" dirty="0" err="1"/>
              <a:t>DONeren</a:t>
            </a:r>
            <a:r>
              <a:rPr lang="nl-NL" dirty="0"/>
              <a:t> via schenking</a:t>
            </a:r>
          </a:p>
        </p:txBody>
      </p:sp>
      <p:sp>
        <p:nvSpPr>
          <p:cNvPr id="3" name="Tijdelijke aanduiding voor inhoud 2">
            <a:extLst>
              <a:ext uri="{FF2B5EF4-FFF2-40B4-BE49-F238E27FC236}">
                <a16:creationId xmlns:a16="http://schemas.microsoft.com/office/drawing/2014/main" id="{C6B2CC78-14AB-2D73-0B6F-D803447A5392}"/>
              </a:ext>
            </a:extLst>
          </p:cNvPr>
          <p:cNvSpPr>
            <a:spLocks noGrp="1"/>
          </p:cNvSpPr>
          <p:nvPr>
            <p:ph idx="1"/>
          </p:nvPr>
        </p:nvSpPr>
        <p:spPr/>
        <p:txBody>
          <a:bodyPr>
            <a:normAutofit lnSpcReduction="10000"/>
          </a:bodyPr>
          <a:lstStyle/>
          <a:p>
            <a:r>
              <a:rPr lang="nl-NL" dirty="0"/>
              <a:t>Als ondernemer kun je direct doneren aan DON, maar je kunt ook doneren aan </a:t>
            </a:r>
            <a:r>
              <a:rPr lang="nl-NL" dirty="0" err="1"/>
              <a:t>Hoppo</a:t>
            </a:r>
            <a:r>
              <a:rPr lang="nl-NL" dirty="0"/>
              <a:t> (let op, geen ANBI status!)</a:t>
            </a:r>
          </a:p>
          <a:p>
            <a:r>
              <a:rPr lang="nl-NL" dirty="0" err="1"/>
              <a:t>Hoppo</a:t>
            </a:r>
            <a:r>
              <a:rPr lang="nl-NL" dirty="0"/>
              <a:t> verdubbelt de schenking door er bier van te maken en deze biertjes vervolgens te verkopen</a:t>
            </a:r>
          </a:p>
          <a:p>
            <a:endParaRPr lang="nl-NL" dirty="0"/>
          </a:p>
          <a:p>
            <a:pPr marL="0" indent="0">
              <a:buNone/>
            </a:pPr>
            <a:r>
              <a:rPr lang="nl-NL" dirty="0"/>
              <a:t>Reken voorbeeld:</a:t>
            </a:r>
          </a:p>
          <a:p>
            <a:r>
              <a:rPr lang="nl-NL" dirty="0" err="1"/>
              <a:t>Hoppo</a:t>
            </a:r>
            <a:r>
              <a:rPr lang="nl-NL" dirty="0"/>
              <a:t> Biertje kost €1,50 (bier, verpakking, brouwen, transport)</a:t>
            </a:r>
          </a:p>
          <a:p>
            <a:r>
              <a:rPr lang="nl-NL" dirty="0"/>
              <a:t>Bedrijf A doneert €1500,- en </a:t>
            </a:r>
            <a:r>
              <a:rPr lang="nl-NL" dirty="0" err="1"/>
              <a:t>Hoppo</a:t>
            </a:r>
            <a:r>
              <a:rPr lang="nl-NL" dirty="0"/>
              <a:t> koopt hiervan 1000 biertjes.</a:t>
            </a:r>
          </a:p>
          <a:p>
            <a:r>
              <a:rPr lang="nl-NL" dirty="0" err="1"/>
              <a:t>Hoppo</a:t>
            </a:r>
            <a:r>
              <a:rPr lang="nl-NL" dirty="0"/>
              <a:t> verkoopt 1000 biertjes voor 3,- p/st waardoor totaal 3.000,- naar stichting DON gaat </a:t>
            </a:r>
          </a:p>
          <a:p>
            <a:endParaRPr lang="nl-NL" dirty="0"/>
          </a:p>
        </p:txBody>
      </p:sp>
    </p:spTree>
    <p:extLst>
      <p:ext uri="{BB962C8B-B14F-4D97-AF65-F5344CB8AC3E}">
        <p14:creationId xmlns:p14="http://schemas.microsoft.com/office/powerpoint/2010/main" val="3910468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6DF433-6572-8C87-7658-9F932D398222}"/>
              </a:ext>
            </a:extLst>
          </p:cNvPr>
          <p:cNvSpPr>
            <a:spLocks noGrp="1"/>
          </p:cNvSpPr>
          <p:nvPr>
            <p:ph type="title"/>
          </p:nvPr>
        </p:nvSpPr>
        <p:spPr/>
        <p:txBody>
          <a:bodyPr/>
          <a:lstStyle/>
          <a:p>
            <a:r>
              <a:rPr lang="nl-NL" dirty="0" err="1"/>
              <a:t>DONeren</a:t>
            </a:r>
            <a:r>
              <a:rPr lang="nl-NL" dirty="0"/>
              <a:t> via goederen</a:t>
            </a:r>
          </a:p>
        </p:txBody>
      </p:sp>
      <p:sp>
        <p:nvSpPr>
          <p:cNvPr id="3" name="Tijdelijke aanduiding voor inhoud 2">
            <a:extLst>
              <a:ext uri="{FF2B5EF4-FFF2-40B4-BE49-F238E27FC236}">
                <a16:creationId xmlns:a16="http://schemas.microsoft.com/office/drawing/2014/main" id="{B3FDEA72-637A-26DB-E3A7-DA5D05D40FDC}"/>
              </a:ext>
            </a:extLst>
          </p:cNvPr>
          <p:cNvSpPr>
            <a:spLocks noGrp="1"/>
          </p:cNvSpPr>
          <p:nvPr>
            <p:ph idx="1"/>
          </p:nvPr>
        </p:nvSpPr>
        <p:spPr/>
        <p:txBody>
          <a:bodyPr>
            <a:normAutofit lnSpcReduction="10000"/>
          </a:bodyPr>
          <a:lstStyle/>
          <a:p>
            <a:r>
              <a:rPr lang="nl-NL" dirty="0"/>
              <a:t>Om te zorgen dat het grootste gedeelte van de omzet van de biertjes naar stichting DON toe kan is het essentieel om de kosten zo laag mogelijk te houden. Dit kan door donaties in goederen. Denk hierbij aan ruimte/brouwerij beschikbaar stellen, inkoopsprijzen van grondstoffen rekenen, promotie materiaal, vrijwilligers enzovoort. Veelal eenvoudig voor de ondernemer maar grote impact voor diabetes </a:t>
            </a:r>
          </a:p>
          <a:p>
            <a:pPr marL="0" indent="0">
              <a:buNone/>
            </a:pPr>
            <a:endParaRPr lang="nl-NL" dirty="0"/>
          </a:p>
          <a:p>
            <a:pPr marL="0" indent="0">
              <a:buNone/>
            </a:pPr>
            <a:r>
              <a:rPr lang="nl-NL" dirty="0"/>
              <a:t>Rekenvoorbeeld</a:t>
            </a:r>
          </a:p>
          <a:p>
            <a:r>
              <a:rPr lang="nl-NL" dirty="0"/>
              <a:t>Biertje kost 1,50. na donatie van mout en hop is de kostprijs naar 1,20 gegaan. Hierdoor per verkocht biertje €0,30 meer naar Don.</a:t>
            </a:r>
          </a:p>
        </p:txBody>
      </p:sp>
    </p:spTree>
    <p:extLst>
      <p:ext uri="{BB962C8B-B14F-4D97-AF65-F5344CB8AC3E}">
        <p14:creationId xmlns:p14="http://schemas.microsoft.com/office/powerpoint/2010/main" val="4226455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E310B4-6FF4-9FD6-4A6A-6D6A4D612E79}"/>
              </a:ext>
            </a:extLst>
          </p:cNvPr>
          <p:cNvSpPr>
            <a:spLocks noGrp="1"/>
          </p:cNvSpPr>
          <p:nvPr>
            <p:ph type="title"/>
          </p:nvPr>
        </p:nvSpPr>
        <p:spPr/>
        <p:txBody>
          <a:bodyPr/>
          <a:lstStyle/>
          <a:p>
            <a:r>
              <a:rPr lang="nl-NL" dirty="0" err="1"/>
              <a:t>DONeren</a:t>
            </a:r>
            <a:r>
              <a:rPr lang="nl-NL" dirty="0"/>
              <a:t> via netwerk</a:t>
            </a:r>
          </a:p>
        </p:txBody>
      </p:sp>
      <p:sp>
        <p:nvSpPr>
          <p:cNvPr id="3" name="Tijdelijke aanduiding voor inhoud 2">
            <a:extLst>
              <a:ext uri="{FF2B5EF4-FFF2-40B4-BE49-F238E27FC236}">
                <a16:creationId xmlns:a16="http://schemas.microsoft.com/office/drawing/2014/main" id="{878E6F29-B82A-991A-6C9F-7D8B833A7882}"/>
              </a:ext>
            </a:extLst>
          </p:cNvPr>
          <p:cNvSpPr>
            <a:spLocks noGrp="1"/>
          </p:cNvSpPr>
          <p:nvPr>
            <p:ph idx="1"/>
          </p:nvPr>
        </p:nvSpPr>
        <p:spPr/>
        <p:txBody>
          <a:bodyPr/>
          <a:lstStyle/>
          <a:p>
            <a:r>
              <a:rPr lang="nl-NL" dirty="0"/>
              <a:t>Door jouw netwerk te delen kan de zichtbaarheid vergroot worden van </a:t>
            </a:r>
            <a:r>
              <a:rPr lang="nl-NL" dirty="0" err="1"/>
              <a:t>Hoppo</a:t>
            </a:r>
            <a:r>
              <a:rPr lang="nl-NL" dirty="0"/>
              <a:t> waardoor er enerzijds meer </a:t>
            </a:r>
            <a:r>
              <a:rPr lang="nl-NL" dirty="0" err="1"/>
              <a:t>Hoppo</a:t>
            </a:r>
            <a:r>
              <a:rPr lang="nl-NL" dirty="0"/>
              <a:t> bier gedronken wordt en anderzijds kosten weer verder omlaag kunnen gaan. Denk hierbij aan </a:t>
            </a:r>
            <a:r>
              <a:rPr lang="nl-NL" dirty="0" err="1"/>
              <a:t>influencers</a:t>
            </a:r>
            <a:r>
              <a:rPr lang="nl-NL" dirty="0"/>
              <a:t>, netwerk borrels, media, beurzen </a:t>
            </a:r>
          </a:p>
        </p:txBody>
      </p:sp>
    </p:spTree>
    <p:extLst>
      <p:ext uri="{BB962C8B-B14F-4D97-AF65-F5344CB8AC3E}">
        <p14:creationId xmlns:p14="http://schemas.microsoft.com/office/powerpoint/2010/main" val="1529823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82DDF2-FDAD-DD06-BCBE-99FF8DD38EFB}"/>
              </a:ext>
            </a:extLst>
          </p:cNvPr>
          <p:cNvSpPr>
            <a:spLocks noGrp="1"/>
          </p:cNvSpPr>
          <p:nvPr>
            <p:ph type="title"/>
          </p:nvPr>
        </p:nvSpPr>
        <p:spPr/>
        <p:txBody>
          <a:bodyPr/>
          <a:lstStyle/>
          <a:p>
            <a:r>
              <a:rPr lang="nl-NL" dirty="0"/>
              <a:t>Marketing waarde voor ondernemers</a:t>
            </a:r>
          </a:p>
        </p:txBody>
      </p:sp>
      <p:sp>
        <p:nvSpPr>
          <p:cNvPr id="3" name="Tijdelijke aanduiding voor inhoud 2">
            <a:extLst>
              <a:ext uri="{FF2B5EF4-FFF2-40B4-BE49-F238E27FC236}">
                <a16:creationId xmlns:a16="http://schemas.microsoft.com/office/drawing/2014/main" id="{0BC3A6FA-0022-179A-8838-B029F9C6BB63}"/>
              </a:ext>
            </a:extLst>
          </p:cNvPr>
          <p:cNvSpPr>
            <a:spLocks noGrp="1"/>
          </p:cNvSpPr>
          <p:nvPr>
            <p:ph idx="1"/>
          </p:nvPr>
        </p:nvSpPr>
        <p:spPr/>
        <p:txBody>
          <a:bodyPr/>
          <a:lstStyle/>
          <a:p>
            <a:r>
              <a:rPr lang="nl-NL" dirty="0"/>
              <a:t>Benoemen van bedrijf op website, </a:t>
            </a:r>
            <a:r>
              <a:rPr lang="nl-NL" dirty="0" err="1"/>
              <a:t>social</a:t>
            </a:r>
            <a:r>
              <a:rPr lang="nl-NL" dirty="0"/>
              <a:t> media onder </a:t>
            </a:r>
            <a:r>
              <a:rPr lang="nl-NL" dirty="0" err="1"/>
              <a:t>DONateurs</a:t>
            </a:r>
            <a:endParaRPr lang="nl-NL" dirty="0"/>
          </a:p>
          <a:p>
            <a:r>
              <a:rPr lang="nl-NL" dirty="0"/>
              <a:t>Interne marketing door klanten en personeel die een blikje van </a:t>
            </a:r>
            <a:r>
              <a:rPr lang="nl-NL" dirty="0" err="1"/>
              <a:t>Hoppo</a:t>
            </a:r>
            <a:r>
              <a:rPr lang="nl-NL" dirty="0"/>
              <a:t> in de hand hebben. </a:t>
            </a:r>
          </a:p>
        </p:txBody>
      </p:sp>
    </p:spTree>
    <p:extLst>
      <p:ext uri="{BB962C8B-B14F-4D97-AF65-F5344CB8AC3E}">
        <p14:creationId xmlns:p14="http://schemas.microsoft.com/office/powerpoint/2010/main" val="2005939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A41807-98C7-5BE9-00BF-316168DB7B7F}"/>
              </a:ext>
            </a:extLst>
          </p:cNvPr>
          <p:cNvSpPr>
            <a:spLocks noGrp="1"/>
          </p:cNvSpPr>
          <p:nvPr>
            <p:ph type="title"/>
          </p:nvPr>
        </p:nvSpPr>
        <p:spPr/>
        <p:txBody>
          <a:bodyPr/>
          <a:lstStyle/>
          <a:p>
            <a:r>
              <a:rPr lang="nl-NL" dirty="0"/>
              <a:t>ANBI of niet?</a:t>
            </a:r>
          </a:p>
        </p:txBody>
      </p:sp>
      <p:sp>
        <p:nvSpPr>
          <p:cNvPr id="3" name="Tijdelijke aanduiding voor inhoud 2">
            <a:extLst>
              <a:ext uri="{FF2B5EF4-FFF2-40B4-BE49-F238E27FC236}">
                <a16:creationId xmlns:a16="http://schemas.microsoft.com/office/drawing/2014/main" id="{68C6370D-E64E-4320-7F2F-4F7DBE004493}"/>
              </a:ext>
            </a:extLst>
          </p:cNvPr>
          <p:cNvSpPr>
            <a:spLocks noGrp="1"/>
          </p:cNvSpPr>
          <p:nvPr>
            <p:ph idx="1"/>
          </p:nvPr>
        </p:nvSpPr>
        <p:spPr/>
        <p:txBody>
          <a:bodyPr/>
          <a:lstStyle/>
          <a:p>
            <a:r>
              <a:rPr lang="nl-NL" dirty="0"/>
              <a:t>Voor B2B niet perse </a:t>
            </a:r>
            <a:r>
              <a:rPr lang="nl-NL" dirty="0" err="1"/>
              <a:t>anbi</a:t>
            </a:r>
            <a:r>
              <a:rPr lang="nl-NL" dirty="0"/>
              <a:t> nodig en maakt het weinig verschil. Kosten kan een bedrijf ook aftrekken. </a:t>
            </a:r>
          </a:p>
          <a:p>
            <a:r>
              <a:rPr lang="nl-NL" dirty="0"/>
              <a:t>Voor B2C maakt ANBI wel een groot verschil. Maar particulier zal niet zo snel doneren. Die koopt het bier gewoon op een event of webshop en is al gewend dat biertje niet op te geven als gift.</a:t>
            </a:r>
          </a:p>
        </p:txBody>
      </p:sp>
    </p:spTree>
    <p:extLst>
      <p:ext uri="{BB962C8B-B14F-4D97-AF65-F5344CB8AC3E}">
        <p14:creationId xmlns:p14="http://schemas.microsoft.com/office/powerpoint/2010/main" val="2281738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E65B50-1984-E38C-8038-744875A74A2A}"/>
              </a:ext>
            </a:extLst>
          </p:cNvPr>
          <p:cNvSpPr>
            <a:spLocks noGrp="1"/>
          </p:cNvSpPr>
          <p:nvPr>
            <p:ph type="title"/>
          </p:nvPr>
        </p:nvSpPr>
        <p:spPr/>
        <p:txBody>
          <a:bodyPr/>
          <a:lstStyle/>
          <a:p>
            <a:r>
              <a:rPr lang="nl-NL" dirty="0"/>
              <a:t>Voorbeelden van impact</a:t>
            </a:r>
          </a:p>
        </p:txBody>
      </p:sp>
      <p:sp>
        <p:nvSpPr>
          <p:cNvPr id="3" name="Tijdelijke aanduiding voor inhoud 2">
            <a:extLst>
              <a:ext uri="{FF2B5EF4-FFF2-40B4-BE49-F238E27FC236}">
                <a16:creationId xmlns:a16="http://schemas.microsoft.com/office/drawing/2014/main" id="{6EDBDA5F-5C25-1616-72C8-5BEA445C134A}"/>
              </a:ext>
            </a:extLst>
          </p:cNvPr>
          <p:cNvSpPr>
            <a:spLocks noGrp="1"/>
          </p:cNvSpPr>
          <p:nvPr>
            <p:ph idx="1"/>
          </p:nvPr>
        </p:nvSpPr>
        <p:spPr/>
        <p:txBody>
          <a:bodyPr>
            <a:normAutofit lnSpcReduction="10000"/>
          </a:bodyPr>
          <a:lstStyle/>
          <a:p>
            <a:pPr marL="0" indent="0">
              <a:buNone/>
            </a:pPr>
            <a:r>
              <a:rPr lang="nl-NL" dirty="0"/>
              <a:t>Misschien denk jij; wat doet mijn bijdrage er toe? Druppel op een gloeiende plaat!</a:t>
            </a:r>
          </a:p>
          <a:p>
            <a:r>
              <a:rPr lang="nl-NL" dirty="0"/>
              <a:t>Voor 1921 gingen mensen binnen 1 jaar dood aan diabetes. Insuline werd door onderzoekers uitgevonden waardoor deze mensen opeens nog +60 jaar hadden te leven.</a:t>
            </a:r>
          </a:p>
          <a:p>
            <a:r>
              <a:rPr lang="nl-NL" dirty="0">
                <a:solidFill>
                  <a:srgbClr val="FF0000"/>
                </a:solidFill>
              </a:rPr>
              <a:t>Voor 1980 stierven miljoenen mensen aan de pokken. Door onderzoek kwam er een pilletje waardoor deze mensen niet meer dood gingen</a:t>
            </a:r>
          </a:p>
          <a:p>
            <a:r>
              <a:rPr lang="nl-NL" dirty="0"/>
              <a:t>Onderzoek kost veel geld, historisch moment van grote doorbraak in 2025 van diabetes T1 met bètacellen. Geld nodig om resultaten op te schalen. Help jij mee?</a:t>
            </a:r>
          </a:p>
        </p:txBody>
      </p:sp>
    </p:spTree>
    <p:extLst>
      <p:ext uri="{BB962C8B-B14F-4D97-AF65-F5344CB8AC3E}">
        <p14:creationId xmlns:p14="http://schemas.microsoft.com/office/powerpoint/2010/main" val="3897745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0F2DD0-2CDE-C697-28A9-7F04BAEDA567}"/>
              </a:ext>
            </a:extLst>
          </p:cNvPr>
          <p:cNvSpPr>
            <a:spLocks noGrp="1"/>
          </p:cNvSpPr>
          <p:nvPr>
            <p:ph type="title"/>
          </p:nvPr>
        </p:nvSpPr>
        <p:spPr/>
        <p:txBody>
          <a:bodyPr/>
          <a:lstStyle/>
          <a:p>
            <a:r>
              <a:rPr lang="nl-NL" dirty="0"/>
              <a:t>Biermeter</a:t>
            </a:r>
          </a:p>
        </p:txBody>
      </p:sp>
      <p:sp>
        <p:nvSpPr>
          <p:cNvPr id="3" name="Tijdelijke aanduiding voor inhoud 2">
            <a:extLst>
              <a:ext uri="{FF2B5EF4-FFF2-40B4-BE49-F238E27FC236}">
                <a16:creationId xmlns:a16="http://schemas.microsoft.com/office/drawing/2014/main" id="{B978668B-7022-02D7-D360-82E35B183744}"/>
              </a:ext>
            </a:extLst>
          </p:cNvPr>
          <p:cNvSpPr>
            <a:spLocks noGrp="1"/>
          </p:cNvSpPr>
          <p:nvPr>
            <p:ph idx="1"/>
          </p:nvPr>
        </p:nvSpPr>
        <p:spPr/>
        <p:txBody>
          <a:bodyPr/>
          <a:lstStyle/>
          <a:p>
            <a:r>
              <a:rPr lang="nl-NL" dirty="0"/>
              <a:t>Inzicht geven hoeveel impact mensen hebben gemaakt met </a:t>
            </a:r>
            <a:r>
              <a:rPr lang="nl-NL" dirty="0" err="1"/>
              <a:t>Hoppo</a:t>
            </a:r>
            <a:r>
              <a:rPr lang="nl-NL" dirty="0"/>
              <a:t> bier drinken.</a:t>
            </a:r>
          </a:p>
        </p:txBody>
      </p:sp>
    </p:spTree>
    <p:extLst>
      <p:ext uri="{BB962C8B-B14F-4D97-AF65-F5344CB8AC3E}">
        <p14:creationId xmlns:p14="http://schemas.microsoft.com/office/powerpoint/2010/main" val="932353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7D1CD0-3C50-B0F3-46C0-8457899ACF6D}"/>
              </a:ext>
            </a:extLst>
          </p:cNvPr>
          <p:cNvSpPr>
            <a:spLocks noGrp="1"/>
          </p:cNvSpPr>
          <p:nvPr>
            <p:ph type="title"/>
          </p:nvPr>
        </p:nvSpPr>
        <p:spPr/>
        <p:txBody>
          <a:bodyPr/>
          <a:lstStyle/>
          <a:p>
            <a:r>
              <a:rPr lang="nl-NL" dirty="0"/>
              <a:t>Timeline </a:t>
            </a:r>
            <a:r>
              <a:rPr lang="nl-NL" dirty="0" err="1"/>
              <a:t>Hoppo</a:t>
            </a:r>
            <a:endParaRPr lang="nl-NL" dirty="0"/>
          </a:p>
        </p:txBody>
      </p:sp>
      <p:sp>
        <p:nvSpPr>
          <p:cNvPr id="3" name="Tijdelijke aanduiding voor inhoud 2">
            <a:extLst>
              <a:ext uri="{FF2B5EF4-FFF2-40B4-BE49-F238E27FC236}">
                <a16:creationId xmlns:a16="http://schemas.microsoft.com/office/drawing/2014/main" id="{DD155A92-FE6E-0DD0-0BA9-584BBB696180}"/>
              </a:ext>
            </a:extLst>
          </p:cNvPr>
          <p:cNvSpPr>
            <a:spLocks noGrp="1"/>
          </p:cNvSpPr>
          <p:nvPr>
            <p:ph idx="1"/>
          </p:nvPr>
        </p:nvSpPr>
        <p:spPr/>
        <p:txBody>
          <a:bodyPr>
            <a:normAutofit fontScale="47500" lnSpcReduction="20000"/>
          </a:bodyPr>
          <a:lstStyle/>
          <a:p>
            <a:r>
              <a:rPr lang="nl-NL" dirty="0"/>
              <a:t>Jan 2024 eerste biertje gebrouwen</a:t>
            </a:r>
          </a:p>
          <a:p>
            <a:r>
              <a:rPr lang="nl-NL" dirty="0"/>
              <a:t>Mei 2024 Moos diabetes</a:t>
            </a:r>
          </a:p>
          <a:p>
            <a:r>
              <a:rPr lang="nl-NL" dirty="0"/>
              <a:t>Mei 2025 Doorbraak Cure </a:t>
            </a:r>
            <a:r>
              <a:rPr lang="nl-NL" dirty="0" err="1"/>
              <a:t>One</a:t>
            </a:r>
            <a:r>
              <a:rPr lang="nl-NL" dirty="0"/>
              <a:t> - van hobby naar missie</a:t>
            </a:r>
          </a:p>
          <a:p>
            <a:r>
              <a:rPr lang="nl-NL" dirty="0"/>
              <a:t>Juli 2025 </a:t>
            </a:r>
            <a:r>
              <a:rPr lang="nl-NL" dirty="0" err="1"/>
              <a:t>Hoppo</a:t>
            </a:r>
            <a:r>
              <a:rPr lang="nl-NL" dirty="0"/>
              <a:t> als merk met visie ontstaan</a:t>
            </a:r>
          </a:p>
          <a:p>
            <a:r>
              <a:rPr lang="nl-NL" dirty="0"/>
              <a:t>jan 2026 1</a:t>
            </a:r>
            <a:r>
              <a:rPr lang="nl-NL" baseline="30000" dirty="0"/>
              <a:t>ste</a:t>
            </a:r>
            <a:r>
              <a:rPr lang="nl-NL" dirty="0"/>
              <a:t> testbiertje uitgebracht met waardering van 7,9</a:t>
            </a:r>
          </a:p>
          <a:p>
            <a:r>
              <a:rPr lang="nl-NL" dirty="0"/>
              <a:t>Maart 2026 lancering </a:t>
            </a:r>
            <a:r>
              <a:rPr lang="nl-NL" dirty="0" err="1"/>
              <a:t>linked</a:t>
            </a:r>
            <a:r>
              <a:rPr lang="nl-NL" dirty="0"/>
              <a:t>-in</a:t>
            </a:r>
          </a:p>
          <a:p>
            <a:r>
              <a:rPr lang="nl-NL" dirty="0"/>
              <a:t>Mei 2026 blond en </a:t>
            </a:r>
            <a:r>
              <a:rPr lang="nl-NL" dirty="0" err="1"/>
              <a:t>ipa</a:t>
            </a:r>
            <a:r>
              <a:rPr lang="nl-NL" dirty="0"/>
              <a:t> recept af zodat we naar huurbrouwerij toe kunnen</a:t>
            </a:r>
          </a:p>
          <a:p>
            <a:endParaRPr lang="nl-NL" dirty="0"/>
          </a:p>
          <a:p>
            <a:pPr marL="0" indent="0">
              <a:buNone/>
            </a:pPr>
            <a:r>
              <a:rPr lang="nl-NL" dirty="0"/>
              <a:t>Te nemen stappen:</a:t>
            </a:r>
          </a:p>
          <a:p>
            <a:r>
              <a:rPr lang="nl-NL" dirty="0"/>
              <a:t>VOF starten 13 maart 2026</a:t>
            </a:r>
          </a:p>
          <a:p>
            <a:r>
              <a:rPr lang="nl-NL" dirty="0"/>
              <a:t>Huurbrouwerij vinden</a:t>
            </a:r>
          </a:p>
          <a:p>
            <a:r>
              <a:rPr lang="nl-NL" dirty="0"/>
              <a:t>Verpakkingen maken</a:t>
            </a:r>
          </a:p>
          <a:p>
            <a:r>
              <a:rPr lang="nl-NL" dirty="0"/>
              <a:t>Vergunningen en regelgeving organiseren</a:t>
            </a:r>
          </a:p>
          <a:p>
            <a:r>
              <a:rPr lang="nl-NL" dirty="0"/>
              <a:t>Opslag van bier</a:t>
            </a:r>
          </a:p>
          <a:p>
            <a:r>
              <a:rPr lang="nl-NL" dirty="0"/>
              <a:t>1</a:t>
            </a:r>
            <a:r>
              <a:rPr lang="nl-NL" baseline="30000" dirty="0"/>
              <a:t>ste</a:t>
            </a:r>
            <a:r>
              <a:rPr lang="nl-NL" dirty="0"/>
              <a:t> batch bestellen</a:t>
            </a:r>
          </a:p>
          <a:p>
            <a:r>
              <a:rPr lang="nl-NL" dirty="0" err="1"/>
              <a:t>Social</a:t>
            </a:r>
            <a:r>
              <a:rPr lang="nl-NL" dirty="0"/>
              <a:t> media lancering (1</a:t>
            </a:r>
            <a:r>
              <a:rPr lang="nl-NL" baseline="30000" dirty="0"/>
              <a:t>ste</a:t>
            </a:r>
            <a:r>
              <a:rPr lang="nl-NL" dirty="0"/>
              <a:t> focus </a:t>
            </a:r>
            <a:r>
              <a:rPr lang="nl-NL" dirty="0" err="1"/>
              <a:t>linked</a:t>
            </a:r>
            <a:r>
              <a:rPr lang="nl-NL" dirty="0"/>
              <a:t> in)</a:t>
            </a:r>
          </a:p>
          <a:p>
            <a:endParaRPr lang="nl-NL" dirty="0"/>
          </a:p>
          <a:p>
            <a:endParaRPr lang="nl-NL" dirty="0"/>
          </a:p>
          <a:p>
            <a:endParaRPr lang="nl-NL" dirty="0"/>
          </a:p>
          <a:p>
            <a:endParaRPr lang="nl-NL" dirty="0"/>
          </a:p>
        </p:txBody>
      </p:sp>
    </p:spTree>
    <p:extLst>
      <p:ext uri="{BB962C8B-B14F-4D97-AF65-F5344CB8AC3E}">
        <p14:creationId xmlns:p14="http://schemas.microsoft.com/office/powerpoint/2010/main" val="24866765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4F27A2-4E7F-D70D-CAF2-BFB07A920480}"/>
              </a:ext>
            </a:extLst>
          </p:cNvPr>
          <p:cNvSpPr>
            <a:spLocks noGrp="1"/>
          </p:cNvSpPr>
          <p:nvPr>
            <p:ph type="title"/>
          </p:nvPr>
        </p:nvSpPr>
        <p:spPr/>
        <p:txBody>
          <a:bodyPr/>
          <a:lstStyle/>
          <a:p>
            <a:r>
              <a:rPr lang="nl-NL" dirty="0" err="1"/>
              <a:t>WShare</a:t>
            </a:r>
            <a:endParaRPr lang="nl-NL" dirty="0"/>
          </a:p>
        </p:txBody>
      </p:sp>
      <p:sp>
        <p:nvSpPr>
          <p:cNvPr id="3" name="Tijdelijke aanduiding voor inhoud 2">
            <a:extLst>
              <a:ext uri="{FF2B5EF4-FFF2-40B4-BE49-F238E27FC236}">
                <a16:creationId xmlns:a16="http://schemas.microsoft.com/office/drawing/2014/main" id="{C50D081F-935A-90DC-0804-514719093A20}"/>
              </a:ext>
            </a:extLst>
          </p:cNvPr>
          <p:cNvSpPr>
            <a:spLocks noGrp="1"/>
          </p:cNvSpPr>
          <p:nvPr>
            <p:ph idx="1"/>
          </p:nvPr>
        </p:nvSpPr>
        <p:spPr/>
        <p:txBody>
          <a:bodyPr/>
          <a:lstStyle/>
          <a:p>
            <a:r>
              <a:rPr lang="nl-NL" dirty="0"/>
              <a:t>Vliegwiel starten door investering in 1</a:t>
            </a:r>
            <a:r>
              <a:rPr lang="nl-NL" baseline="30000" dirty="0"/>
              <a:t>ste</a:t>
            </a:r>
            <a:r>
              <a:rPr lang="nl-NL" dirty="0"/>
              <a:t> batch</a:t>
            </a:r>
          </a:p>
          <a:p>
            <a:r>
              <a:rPr lang="nl-NL" dirty="0"/>
              <a:t>500 </a:t>
            </a:r>
            <a:r>
              <a:rPr lang="nl-NL" dirty="0" err="1"/>
              <a:t>ltr</a:t>
            </a:r>
            <a:r>
              <a:rPr lang="nl-NL" dirty="0"/>
              <a:t> =&gt; 1500 biertjes x €1,50 = €2250,- kosten</a:t>
            </a:r>
          </a:p>
          <a:p>
            <a:r>
              <a:rPr lang="nl-NL" dirty="0" err="1"/>
              <a:t>Hoppo</a:t>
            </a:r>
            <a:r>
              <a:rPr lang="nl-NL" dirty="0"/>
              <a:t> 50% als </a:t>
            </a:r>
            <a:r>
              <a:rPr lang="nl-NL" dirty="0" err="1"/>
              <a:t>Wshare</a:t>
            </a:r>
            <a:r>
              <a:rPr lang="nl-NL" dirty="0"/>
              <a:t> ook in stapt</a:t>
            </a:r>
          </a:p>
          <a:p>
            <a:endParaRPr lang="nl-NL" dirty="0"/>
          </a:p>
        </p:txBody>
      </p:sp>
    </p:spTree>
    <p:extLst>
      <p:ext uri="{BB962C8B-B14F-4D97-AF65-F5344CB8AC3E}">
        <p14:creationId xmlns:p14="http://schemas.microsoft.com/office/powerpoint/2010/main" val="4088220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9B129F-F411-8C97-4B02-1518CFE4626A}"/>
              </a:ext>
            </a:extLst>
          </p:cNvPr>
          <p:cNvSpPr>
            <a:spLocks noGrp="1"/>
          </p:cNvSpPr>
          <p:nvPr>
            <p:ph type="title"/>
          </p:nvPr>
        </p:nvSpPr>
        <p:spPr/>
        <p:txBody>
          <a:bodyPr/>
          <a:lstStyle/>
          <a:p>
            <a:r>
              <a:rPr lang="nl-NL" dirty="0"/>
              <a:t>verkoopplan</a:t>
            </a:r>
          </a:p>
        </p:txBody>
      </p:sp>
      <p:sp>
        <p:nvSpPr>
          <p:cNvPr id="3" name="Tijdelijke aanduiding voor inhoud 2">
            <a:extLst>
              <a:ext uri="{FF2B5EF4-FFF2-40B4-BE49-F238E27FC236}">
                <a16:creationId xmlns:a16="http://schemas.microsoft.com/office/drawing/2014/main" id="{6E6CB010-7846-02EA-EEA8-0312E5042F52}"/>
              </a:ext>
            </a:extLst>
          </p:cNvPr>
          <p:cNvSpPr>
            <a:spLocks noGrp="1"/>
          </p:cNvSpPr>
          <p:nvPr>
            <p:ph idx="1"/>
          </p:nvPr>
        </p:nvSpPr>
        <p:spPr/>
        <p:txBody>
          <a:bodyPr/>
          <a:lstStyle/>
          <a:p>
            <a:r>
              <a:rPr lang="nl-NL" dirty="0"/>
              <a:t>Ondernemers benaderen</a:t>
            </a:r>
          </a:p>
          <a:p>
            <a:r>
              <a:rPr lang="nl-NL" dirty="0" err="1"/>
              <a:t>Social</a:t>
            </a:r>
            <a:r>
              <a:rPr lang="nl-NL" dirty="0"/>
              <a:t> media het verhaal uitrollen</a:t>
            </a:r>
          </a:p>
          <a:p>
            <a:r>
              <a:rPr lang="nl-NL" dirty="0"/>
              <a:t>Gesprek DON voor netwerk</a:t>
            </a:r>
          </a:p>
          <a:p>
            <a:endParaRPr lang="nl-NL" dirty="0"/>
          </a:p>
        </p:txBody>
      </p:sp>
    </p:spTree>
    <p:extLst>
      <p:ext uri="{BB962C8B-B14F-4D97-AF65-F5344CB8AC3E}">
        <p14:creationId xmlns:p14="http://schemas.microsoft.com/office/powerpoint/2010/main" val="1411872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F7A495-FEF6-1BE2-219C-AA450461C276}"/>
              </a:ext>
            </a:extLst>
          </p:cNvPr>
          <p:cNvSpPr>
            <a:spLocks noGrp="1"/>
          </p:cNvSpPr>
          <p:nvPr>
            <p:ph type="title"/>
          </p:nvPr>
        </p:nvSpPr>
        <p:spPr/>
        <p:txBody>
          <a:bodyPr/>
          <a:lstStyle/>
          <a:p>
            <a:r>
              <a:rPr lang="nl-NL" dirty="0"/>
              <a:t>investeringslijst</a:t>
            </a:r>
          </a:p>
        </p:txBody>
      </p:sp>
      <p:sp>
        <p:nvSpPr>
          <p:cNvPr id="3" name="Tijdelijke aanduiding voor inhoud 2">
            <a:extLst>
              <a:ext uri="{FF2B5EF4-FFF2-40B4-BE49-F238E27FC236}">
                <a16:creationId xmlns:a16="http://schemas.microsoft.com/office/drawing/2014/main" id="{CF20AEAD-7C33-A25D-8F09-F54387908DBA}"/>
              </a:ext>
            </a:extLst>
          </p:cNvPr>
          <p:cNvSpPr>
            <a:spLocks noGrp="1"/>
          </p:cNvSpPr>
          <p:nvPr>
            <p:ph idx="1"/>
          </p:nvPr>
        </p:nvSpPr>
        <p:spPr/>
        <p:txBody>
          <a:bodyPr/>
          <a:lstStyle/>
          <a:p>
            <a:r>
              <a:rPr lang="nl-NL" dirty="0"/>
              <a:t>Blikjes machine</a:t>
            </a:r>
          </a:p>
          <a:p>
            <a:r>
              <a:rPr lang="nl-NL" dirty="0"/>
              <a:t>Labels</a:t>
            </a:r>
          </a:p>
          <a:p>
            <a:r>
              <a:rPr lang="nl-NL" dirty="0" err="1"/>
              <a:t>Hoppo</a:t>
            </a:r>
            <a:r>
              <a:rPr lang="nl-NL" dirty="0"/>
              <a:t> lab/brouwlocatie</a:t>
            </a:r>
          </a:p>
          <a:p>
            <a:r>
              <a:rPr lang="nl-NL" dirty="0"/>
              <a:t>Opslag locatie</a:t>
            </a:r>
          </a:p>
          <a:p>
            <a:r>
              <a:rPr lang="nl-NL" dirty="0"/>
              <a:t>Transport</a:t>
            </a:r>
          </a:p>
          <a:p>
            <a:r>
              <a:rPr lang="nl-NL" dirty="0"/>
              <a:t>Tap</a:t>
            </a:r>
          </a:p>
          <a:p>
            <a:r>
              <a:rPr lang="nl-NL" dirty="0"/>
              <a:t>Plek op een festival</a:t>
            </a:r>
          </a:p>
          <a:p>
            <a:r>
              <a:rPr lang="nl-NL" dirty="0"/>
              <a:t>Drukwerk/promotie goederen</a:t>
            </a:r>
          </a:p>
          <a:p>
            <a:endParaRPr lang="nl-NL" dirty="0"/>
          </a:p>
          <a:p>
            <a:endParaRPr lang="nl-NL" dirty="0"/>
          </a:p>
          <a:p>
            <a:endParaRPr lang="nl-NL" dirty="0"/>
          </a:p>
        </p:txBody>
      </p:sp>
    </p:spTree>
    <p:extLst>
      <p:ext uri="{BB962C8B-B14F-4D97-AF65-F5344CB8AC3E}">
        <p14:creationId xmlns:p14="http://schemas.microsoft.com/office/powerpoint/2010/main" val="689940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EE6008-AAA8-A4E0-EEC3-E21E8DA51A2E}"/>
              </a:ext>
            </a:extLst>
          </p:cNvPr>
          <p:cNvSpPr>
            <a:spLocks noGrp="1"/>
          </p:cNvSpPr>
          <p:nvPr>
            <p:ph type="title"/>
          </p:nvPr>
        </p:nvSpPr>
        <p:spPr/>
        <p:txBody>
          <a:bodyPr/>
          <a:lstStyle/>
          <a:p>
            <a:r>
              <a:rPr lang="nl-NL" dirty="0"/>
              <a:t>Hoe het allemaal begon</a:t>
            </a:r>
          </a:p>
        </p:txBody>
      </p:sp>
      <p:sp>
        <p:nvSpPr>
          <p:cNvPr id="3" name="Tijdelijke aanduiding voor inhoud 2">
            <a:extLst>
              <a:ext uri="{FF2B5EF4-FFF2-40B4-BE49-F238E27FC236}">
                <a16:creationId xmlns:a16="http://schemas.microsoft.com/office/drawing/2014/main" id="{66B2ACBA-D0F5-EA42-DAC4-496257E847A6}"/>
              </a:ext>
            </a:extLst>
          </p:cNvPr>
          <p:cNvSpPr>
            <a:spLocks noGrp="1"/>
          </p:cNvSpPr>
          <p:nvPr>
            <p:ph idx="1"/>
          </p:nvPr>
        </p:nvSpPr>
        <p:spPr/>
        <p:txBody>
          <a:bodyPr/>
          <a:lstStyle/>
          <a:p>
            <a:r>
              <a:rPr lang="nl-NL" dirty="0"/>
              <a:t>Oud en nieuw 2023/2024</a:t>
            </a:r>
          </a:p>
          <a:p>
            <a:r>
              <a:rPr lang="nl-NL" dirty="0"/>
              <a:t>Eigen keuken eerste recept</a:t>
            </a:r>
          </a:p>
          <a:p>
            <a:r>
              <a:rPr lang="nl-NL" dirty="0"/>
              <a:t>Alcohol problemen</a:t>
            </a:r>
          </a:p>
          <a:p>
            <a:r>
              <a:rPr lang="nl-NL" dirty="0"/>
              <a:t>Doelloos brouwen</a:t>
            </a:r>
          </a:p>
          <a:p>
            <a:r>
              <a:rPr lang="nl-NL" dirty="0"/>
              <a:t>Kleine stapjes vooruit</a:t>
            </a:r>
          </a:p>
        </p:txBody>
      </p:sp>
    </p:spTree>
    <p:extLst>
      <p:ext uri="{BB962C8B-B14F-4D97-AF65-F5344CB8AC3E}">
        <p14:creationId xmlns:p14="http://schemas.microsoft.com/office/powerpoint/2010/main" val="3361855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C5C330-61C8-93CC-1892-6D1F82D7C9DB}"/>
              </a:ext>
            </a:extLst>
          </p:cNvPr>
          <p:cNvSpPr>
            <a:spLocks noGrp="1"/>
          </p:cNvSpPr>
          <p:nvPr>
            <p:ph type="title"/>
          </p:nvPr>
        </p:nvSpPr>
        <p:spPr/>
        <p:txBody>
          <a:bodyPr/>
          <a:lstStyle/>
          <a:p>
            <a:r>
              <a:rPr lang="nl-NL" dirty="0"/>
              <a:t>De missie van </a:t>
            </a:r>
            <a:r>
              <a:rPr lang="nl-NL" dirty="0" err="1"/>
              <a:t>Hoppo</a:t>
            </a:r>
            <a:endParaRPr lang="nl-NL" dirty="0"/>
          </a:p>
        </p:txBody>
      </p:sp>
      <p:sp>
        <p:nvSpPr>
          <p:cNvPr id="3" name="Tijdelijke aanduiding voor inhoud 2">
            <a:extLst>
              <a:ext uri="{FF2B5EF4-FFF2-40B4-BE49-F238E27FC236}">
                <a16:creationId xmlns:a16="http://schemas.microsoft.com/office/drawing/2014/main" id="{ABE3B522-F828-1E5A-3C9A-C01FFD008C1A}"/>
              </a:ext>
            </a:extLst>
          </p:cNvPr>
          <p:cNvSpPr>
            <a:spLocks noGrp="1"/>
          </p:cNvSpPr>
          <p:nvPr>
            <p:ph idx="1"/>
          </p:nvPr>
        </p:nvSpPr>
        <p:spPr/>
        <p:txBody>
          <a:bodyPr/>
          <a:lstStyle/>
          <a:p>
            <a:r>
              <a:rPr lang="nl-NL" dirty="0"/>
              <a:t>Mei 2024 Moos diabetes </a:t>
            </a:r>
          </a:p>
          <a:p>
            <a:r>
              <a:rPr lang="nl-NL" dirty="0"/>
              <a:t>Half 2025 =&gt; doorbraak </a:t>
            </a:r>
            <a:r>
              <a:rPr lang="nl-NL" dirty="0" err="1"/>
              <a:t>CureOne</a:t>
            </a:r>
            <a:r>
              <a:rPr lang="nl-NL" dirty="0"/>
              <a:t> </a:t>
            </a:r>
          </a:p>
          <a:p>
            <a:r>
              <a:rPr lang="nl-NL" dirty="0"/>
              <a:t>Financieel bijdragen aan genezing van diabetes</a:t>
            </a:r>
          </a:p>
          <a:p>
            <a:r>
              <a:rPr lang="nl-NL" dirty="0"/>
              <a:t>Doel =&gt; Moos genezen zodat hij zorgeloos bier kan drinken op zijn 18</a:t>
            </a:r>
            <a:r>
              <a:rPr lang="nl-NL" baseline="30000" dirty="0"/>
              <a:t>de</a:t>
            </a:r>
            <a:r>
              <a:rPr lang="nl-NL" dirty="0"/>
              <a:t> </a:t>
            </a:r>
          </a:p>
          <a:p>
            <a:r>
              <a:rPr lang="nl-NL" dirty="0"/>
              <a:t>Combi van hop en hypo =&gt; </a:t>
            </a:r>
            <a:r>
              <a:rPr lang="nl-NL" dirty="0" err="1"/>
              <a:t>Hoppo</a:t>
            </a:r>
            <a:endParaRPr lang="nl-NL" dirty="0"/>
          </a:p>
          <a:p>
            <a:r>
              <a:rPr lang="nl-NL" dirty="0"/>
              <a:t>Mascotte =&gt; Nijlpaard met diabetes in een </a:t>
            </a:r>
            <a:r>
              <a:rPr lang="nl-NL" dirty="0" err="1"/>
              <a:t>bierbad</a:t>
            </a:r>
            <a:endParaRPr lang="nl-NL" dirty="0"/>
          </a:p>
          <a:p>
            <a:r>
              <a:rPr lang="nl-NL" dirty="0"/>
              <a:t>Slogan =&gt; zorgeloos genieten</a:t>
            </a:r>
          </a:p>
        </p:txBody>
      </p:sp>
    </p:spTree>
    <p:extLst>
      <p:ext uri="{BB962C8B-B14F-4D97-AF65-F5344CB8AC3E}">
        <p14:creationId xmlns:p14="http://schemas.microsoft.com/office/powerpoint/2010/main" val="3882993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BE553C-F68C-7B79-F6AB-DA8EA3F34EA8}"/>
              </a:ext>
            </a:extLst>
          </p:cNvPr>
          <p:cNvSpPr>
            <a:spLocks noGrp="1"/>
          </p:cNvSpPr>
          <p:nvPr>
            <p:ph type="title"/>
          </p:nvPr>
        </p:nvSpPr>
        <p:spPr/>
        <p:txBody>
          <a:bodyPr/>
          <a:lstStyle/>
          <a:p>
            <a:r>
              <a:rPr lang="nl-NL" dirty="0"/>
              <a:t>Het businessplan</a:t>
            </a:r>
          </a:p>
        </p:txBody>
      </p:sp>
      <p:sp>
        <p:nvSpPr>
          <p:cNvPr id="3" name="Tijdelijke aanduiding voor inhoud 2">
            <a:extLst>
              <a:ext uri="{FF2B5EF4-FFF2-40B4-BE49-F238E27FC236}">
                <a16:creationId xmlns:a16="http://schemas.microsoft.com/office/drawing/2014/main" id="{1EDB6603-E752-FFF7-53C7-57CB46A7475E}"/>
              </a:ext>
            </a:extLst>
          </p:cNvPr>
          <p:cNvSpPr>
            <a:spLocks noGrp="1"/>
          </p:cNvSpPr>
          <p:nvPr>
            <p:ph idx="1"/>
          </p:nvPr>
        </p:nvSpPr>
        <p:spPr/>
        <p:txBody>
          <a:bodyPr/>
          <a:lstStyle/>
          <a:p>
            <a:r>
              <a:rPr lang="nl-NL" dirty="0"/>
              <a:t>Eigen recepten ontwikkelen in onze mini brouwerij (wit/blond/</a:t>
            </a:r>
            <a:r>
              <a:rPr lang="nl-NL" dirty="0" err="1"/>
              <a:t>neipa</a:t>
            </a:r>
            <a:r>
              <a:rPr lang="nl-NL" dirty="0"/>
              <a:t>)</a:t>
            </a:r>
          </a:p>
          <a:p>
            <a:r>
              <a:rPr lang="nl-NL" dirty="0"/>
              <a:t>Opschalen d.m.v. huurbrouwerijen</a:t>
            </a:r>
          </a:p>
          <a:p>
            <a:r>
              <a:rPr lang="nl-NL" dirty="0"/>
              <a:t>Kwalitatief goed bier brouwen, tegen zo laag mogelijke kosten </a:t>
            </a:r>
          </a:p>
          <a:p>
            <a:r>
              <a:rPr lang="nl-NL" dirty="0"/>
              <a:t>Via netwerk verkopen op (</a:t>
            </a:r>
            <a:r>
              <a:rPr lang="nl-NL" dirty="0" err="1"/>
              <a:t>bedrijfs</a:t>
            </a:r>
            <a:r>
              <a:rPr lang="nl-NL" dirty="0"/>
              <a:t>)feesten, winkels, online</a:t>
            </a:r>
          </a:p>
          <a:p>
            <a:r>
              <a:rPr lang="nl-NL" dirty="0"/>
              <a:t>Alle winst schenken aan stichting Don</a:t>
            </a:r>
          </a:p>
          <a:p>
            <a:r>
              <a:rPr lang="nl-NL" dirty="0"/>
              <a:t>Donaties vermenigvuldiger</a:t>
            </a:r>
          </a:p>
        </p:txBody>
      </p:sp>
    </p:spTree>
    <p:extLst>
      <p:ext uri="{BB962C8B-B14F-4D97-AF65-F5344CB8AC3E}">
        <p14:creationId xmlns:p14="http://schemas.microsoft.com/office/powerpoint/2010/main" val="826463984"/>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569</TotalTime>
  <Words>1218</Words>
  <Application>Microsoft Office PowerPoint</Application>
  <PresentationFormat>Breedbeeld</PresentationFormat>
  <Paragraphs>141</Paragraphs>
  <Slides>24</Slides>
  <Notes>1</Notes>
  <HiddenSlides>3</HiddenSlides>
  <MMClips>0</MMClips>
  <ScaleCrop>false</ScaleCrop>
  <HeadingPairs>
    <vt:vector size="4" baseType="variant">
      <vt:variant>
        <vt:lpstr>Thema</vt:lpstr>
      </vt:variant>
      <vt:variant>
        <vt:i4>1</vt:i4>
      </vt:variant>
      <vt:variant>
        <vt:lpstr>Diatitels</vt:lpstr>
      </vt:variant>
      <vt:variant>
        <vt:i4>24</vt:i4>
      </vt:variant>
    </vt:vector>
  </HeadingPairs>
  <TitlesOfParts>
    <vt:vector size="25" baseType="lpstr">
      <vt:lpstr>Kantoorthema</vt:lpstr>
      <vt:lpstr>PowerPoint-presentatie</vt:lpstr>
      <vt:lpstr>Missie Hoppo</vt:lpstr>
      <vt:lpstr>Wat is diabetes in cijfers</vt:lpstr>
      <vt:lpstr>Wat is diabetes om mee te leven</vt:lpstr>
      <vt:lpstr>Don en CureOne</vt:lpstr>
      <vt:lpstr>Don vs diabetes vereniging NL</vt:lpstr>
      <vt:lpstr>Hoppo</vt:lpstr>
      <vt:lpstr>Hoppo Business plan: </vt:lpstr>
      <vt:lpstr>Wat kun jij doen als ondernemer?</vt:lpstr>
      <vt:lpstr>DONeren via verkoop</vt:lpstr>
      <vt:lpstr>DONeren via schenking</vt:lpstr>
      <vt:lpstr>DONeren via goederen</vt:lpstr>
      <vt:lpstr>DONeren via netwerk</vt:lpstr>
      <vt:lpstr>Marketing waarde voor ondernemers</vt:lpstr>
      <vt:lpstr>ANBI of niet?</vt:lpstr>
      <vt:lpstr>Voorbeelden van impact</vt:lpstr>
      <vt:lpstr>Biermeter</vt:lpstr>
      <vt:lpstr>Timeline Hoppo</vt:lpstr>
      <vt:lpstr>WShare</vt:lpstr>
      <vt:lpstr>verkoopplan</vt:lpstr>
      <vt:lpstr>investeringslijst</vt:lpstr>
      <vt:lpstr>Hoe het allemaal begon</vt:lpstr>
      <vt:lpstr>De missie van Hoppo</vt:lpstr>
      <vt:lpstr>Het businessplan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 Willemsen</dc:creator>
  <cp:lastModifiedBy>Jos Willemsen</cp:lastModifiedBy>
  <cp:revision>4</cp:revision>
  <dcterms:created xsi:type="dcterms:W3CDTF">2026-01-31T17:56:13Z</dcterms:created>
  <dcterms:modified xsi:type="dcterms:W3CDTF">2026-02-25T21:47:37Z</dcterms:modified>
</cp:coreProperties>
</file>